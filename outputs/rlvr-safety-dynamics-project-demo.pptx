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08078cc6cbf4468" /><Relationship Type="http://schemas.openxmlformats.org/officeDocument/2006/relationships/extended-properties" Target="/docProps/app.xml" Id="Rd53dfe41c4234318" /><Relationship Type="http://schemas.openxmlformats.org/officeDocument/2006/relationships/officeDocument" Target="/ppt/presentation.xml" Id="Rbb1bc709461045f9" /></Relationships>
</file>

<file path=ppt/presentation.xml><?xml version="1.0" encoding="utf-8"?>
<p:presentation xmlns:p="http://schemas.openxmlformats.org/presentationml/2006/main">
  <p:sldMasterIdLst>
    <p:sldMasterId xmlns:r="http://schemas.openxmlformats.org/officeDocument/2006/relationships" id="2147483648" r:id="Rde6f4d4a076446ad"/>
  </p:sldMasterIdLst>
  <p:notesMasterIdLst>
    <p:notesMasterId xmlns:r="http://schemas.openxmlformats.org/officeDocument/2006/relationships" r:id="R44d6377394fd49e6"/>
  </p:notesMasterIdLst>
  <p:sldIdLst>
    <p:sldId xmlns:r="http://schemas.openxmlformats.org/officeDocument/2006/relationships" id="256" r:id="R5f2ea2904661495b"/>
    <p:sldId xmlns:r="http://schemas.openxmlformats.org/officeDocument/2006/relationships" id="257" r:id="Rdab1273fc1524be8"/>
    <p:sldId xmlns:r="http://schemas.openxmlformats.org/officeDocument/2006/relationships" id="258" r:id="R7003807e687241ee"/>
    <p:sldId xmlns:r="http://schemas.openxmlformats.org/officeDocument/2006/relationships" id="259" r:id="R8dcccb9cd4024129"/>
    <p:sldId xmlns:r="http://schemas.openxmlformats.org/officeDocument/2006/relationships" id="260" r:id="R25ba9f84f9734161"/>
    <p:sldId xmlns:r="http://schemas.openxmlformats.org/officeDocument/2006/relationships" id="261" r:id="Rb570026640af42bf"/>
    <p:sldId xmlns:r="http://schemas.openxmlformats.org/officeDocument/2006/relationships" id="262" r:id="R0fe33f24cf614d9f"/>
    <p:sldId xmlns:r="http://schemas.openxmlformats.org/officeDocument/2006/relationships" id="263" r:id="R7e2006033c1c43d7"/>
    <p:sldId xmlns:r="http://schemas.openxmlformats.org/officeDocument/2006/relationships" id="264" r:id="R94408b7ffc514f06"/>
    <p:sldId xmlns:r="http://schemas.openxmlformats.org/officeDocument/2006/relationships" id="265" r:id="R8bdb0530cec54fa0"/>
    <p:sldId xmlns:r="http://schemas.openxmlformats.org/officeDocument/2006/relationships" id="266" r:id="R7c5d1caa79fe4836"/>
    <p:sldId xmlns:r="http://schemas.openxmlformats.org/officeDocument/2006/relationships" id="267" r:id="Rdb19f3871dfb4781"/>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4e963b4a9984453" /><Relationship Type="http://schemas.openxmlformats.org/officeDocument/2006/relationships/slideMaster" Target="/ppt/slideMasters/slideMaster1.xml" Id="Rde6f4d4a076446ad" /><Relationship Type="http://schemas.openxmlformats.org/officeDocument/2006/relationships/notesMaster" Target="/ppt/notesMasters/notesMaster1.xml" Id="R44d6377394fd49e6" /><Relationship Type="http://schemas.openxmlformats.org/officeDocument/2006/relationships/presProps" Target="/ppt/presProps.xml" Id="Re0b45a50c35d4011" /><Relationship Type="http://schemas.openxmlformats.org/officeDocument/2006/relationships/tableStyles" Target="/ppt/tableStyles.xml" Id="Rf192e3628be241bc" /><Relationship Type="http://schemas.openxmlformats.org/officeDocument/2006/relationships/slide" Target="/ppt/slides/slide1.xml" Id="R5f2ea2904661495b" /><Relationship Type="http://schemas.openxmlformats.org/officeDocument/2006/relationships/slide" Target="/ppt/slides/slide2.xml" Id="Rdab1273fc1524be8" /><Relationship Type="http://schemas.openxmlformats.org/officeDocument/2006/relationships/slide" Target="/ppt/slides/slide3.xml" Id="R7003807e687241ee" /><Relationship Type="http://schemas.openxmlformats.org/officeDocument/2006/relationships/slide" Target="/ppt/slides/slide4.xml" Id="R8dcccb9cd4024129" /><Relationship Type="http://schemas.openxmlformats.org/officeDocument/2006/relationships/slide" Target="/ppt/slides/slide5.xml" Id="R25ba9f84f9734161" /><Relationship Type="http://schemas.openxmlformats.org/officeDocument/2006/relationships/slide" Target="/ppt/slides/slide6.xml" Id="Rb570026640af42bf" /><Relationship Type="http://schemas.openxmlformats.org/officeDocument/2006/relationships/slide" Target="/ppt/slides/slide7.xml" Id="R0fe33f24cf614d9f" /><Relationship Type="http://schemas.openxmlformats.org/officeDocument/2006/relationships/slide" Target="/ppt/slides/slide8.xml" Id="R7e2006033c1c43d7" /><Relationship Type="http://schemas.openxmlformats.org/officeDocument/2006/relationships/slide" Target="/ppt/slides/slide9.xml" Id="R94408b7ffc514f06" /><Relationship Type="http://schemas.openxmlformats.org/officeDocument/2006/relationships/slide" Target="/ppt/slides/slide10.xml" Id="R8bdb0530cec54fa0" /><Relationship Type="http://schemas.openxmlformats.org/officeDocument/2006/relationships/slide" Target="/ppt/slides/slide11.xml" Id="R7c5d1caa79fe4836" /><Relationship Type="http://schemas.openxmlformats.org/officeDocument/2006/relationships/slide" Target="/ppt/slides/slide12.xml" Id="Rdb19f3871dfb478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1268c74a8f64a9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d9464e3e9f14a2a" /><Relationship Type="http://schemas.openxmlformats.org/officeDocument/2006/relationships/notesMaster" Target="/ppt/notesMasters/notesMaster1.xml" Id="Rff361acad1974ff5" /></Relationships>
</file>

<file path=ppt/notesSlides/_rels/notesSlide2.xml.rels>&#65279;<?xml version="1.0" encoding="utf-8"?><Relationships xmlns="http://schemas.openxmlformats.org/package/2006/relationships"><Relationship Type="http://schemas.openxmlformats.org/officeDocument/2006/relationships/slide" Target="/ppt/slides/slide2.xml" Id="R538aa959fbac4f26" /><Relationship Type="http://schemas.openxmlformats.org/officeDocument/2006/relationships/notesMaster" Target="/ppt/notesMasters/notesMaster1.xml" Id="R2a47d6326ceb4261" /></Relationships>
</file>

<file path=ppt/notesSlides/_rels/notesSlide3.xml.rels>&#65279;<?xml version="1.0" encoding="utf-8"?><Relationships xmlns="http://schemas.openxmlformats.org/package/2006/relationships"><Relationship Type="http://schemas.openxmlformats.org/officeDocument/2006/relationships/slide" Target="/ppt/slides/slide3.xml" Id="Rae86a4fd93c24af4" /><Relationship Type="http://schemas.openxmlformats.org/officeDocument/2006/relationships/notesMaster" Target="/ppt/notesMasters/notesMaster1.xml" Id="Rc86d44f8cbe441dd" /></Relationships>
</file>

<file path=ppt/notesSlides/_rels/notesSlide4.xml.rels>&#65279;<?xml version="1.0" encoding="utf-8"?><Relationships xmlns="http://schemas.openxmlformats.org/package/2006/relationships"><Relationship Type="http://schemas.openxmlformats.org/officeDocument/2006/relationships/slide" Target="/ppt/slides/slide4.xml" Id="Rdc6799af612c4ca4" /><Relationship Type="http://schemas.openxmlformats.org/officeDocument/2006/relationships/notesMaster" Target="/ppt/notesMasters/notesMaster1.xml" Id="R176f3ba9c24d413d" /></Relationships>
</file>

<file path=ppt/notesSlides/_rels/notesSlide5.xml.rels>&#65279;<?xml version="1.0" encoding="utf-8"?><Relationships xmlns="http://schemas.openxmlformats.org/package/2006/relationships"><Relationship Type="http://schemas.openxmlformats.org/officeDocument/2006/relationships/slide" Target="/ppt/slides/slide5.xml" Id="R2abb26aaefe545de" /><Relationship Type="http://schemas.openxmlformats.org/officeDocument/2006/relationships/notesMaster" Target="/ppt/notesMasters/notesMaster1.xml" Id="Rce826a93b8fe46dc" /></Relationships>
</file>

<file path=ppt/notesSlides/_rels/notesSlide6.xml.rels>&#65279;<?xml version="1.0" encoding="utf-8"?><Relationships xmlns="http://schemas.openxmlformats.org/package/2006/relationships"><Relationship Type="http://schemas.openxmlformats.org/officeDocument/2006/relationships/slide" Target="/ppt/slides/slide6.xml" Id="R491f5a6357b04572" /><Relationship Type="http://schemas.openxmlformats.org/officeDocument/2006/relationships/notesMaster" Target="/ppt/notesMasters/notesMaster1.xml" Id="Re2f92076971043a2" /></Relationships>
</file>

<file path=ppt/notesSlides/_rels/notesSlide7.xml.rels>&#65279;<?xml version="1.0" encoding="utf-8"?><Relationships xmlns="http://schemas.openxmlformats.org/package/2006/relationships"><Relationship Type="http://schemas.openxmlformats.org/officeDocument/2006/relationships/slide" Target="/ppt/slides/slide7.xml" Id="R6c080fb7a85e478d" /><Relationship Type="http://schemas.openxmlformats.org/officeDocument/2006/relationships/notesMaster" Target="/ppt/notesMasters/notesMaster1.xml" Id="R1ac39a613077498f" /></Relationships>
</file>

<file path=ppt/notesSlides/_rels/notesSlide8.xml.rels>&#65279;<?xml version="1.0" encoding="utf-8"?><Relationships xmlns="http://schemas.openxmlformats.org/package/2006/relationships"><Relationship Type="http://schemas.openxmlformats.org/officeDocument/2006/relationships/slide" Target="/ppt/slides/slide8.xml" Id="Rce1e63cde7f74e8d" /><Relationship Type="http://schemas.openxmlformats.org/officeDocument/2006/relationships/notesMaster" Target="/ppt/notesMasters/notesMaster1.xml" Id="Rd81913472dc74c40" /></Relationships>
</file>

<file path=ppt/notesSlides/_rels/notesSlide9.xml.rels>&#65279;<?xml version="1.0" encoding="utf-8"?><Relationships xmlns="http://schemas.openxmlformats.org/package/2006/relationships"><Relationship Type="http://schemas.openxmlformats.org/officeDocument/2006/relationships/slide" Target="/ppt/slides/slide9.xml" Id="R6ae1d34566b94f91" /><Relationship Type="http://schemas.openxmlformats.org/officeDocument/2006/relationships/notesMaster" Target="/ppt/notesMasters/notesMaster1.xml" Id="Re8023b9a71cc406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75926f53a884181" /><Relationship Type="http://schemas.openxmlformats.org/officeDocument/2006/relationships/notesMaster" Target="/ppt/notesMasters/notesMaster1.xml" Id="R0b7d173d4ce24f1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876e72c6bf54884" /><Relationship Type="http://schemas.openxmlformats.org/officeDocument/2006/relationships/notesMaster" Target="/ppt/notesMasters/notesMaster1.xml" Id="Rd16fa142077945b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d3a1cdeb7db4127" /><Relationship Type="http://schemas.openxmlformats.org/officeDocument/2006/relationships/notesMaster" Target="/ppt/notesMasters/notesMaster1.xml" Id="Rdb7d74140607478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question, not the answer. This project studies Reinforcement Learning with Verifiable Rewards, or RLVR: training where answers can be checked automatically. The concern is that capability may improve while safety-relevant behavior gets worse. I will show that the main change we found was in the test, not in the model's averaged safety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A score can rise because behavior changed, or because the measuring tool became unstable for that model. Those lead to different safety decisions. If we confuse the two, we can create a false alarm or miss a real warning.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did not keep the original story after the evidence weakened it. The first prompt-sensitivity result mixed several changes together. The methodology audit showed that it could not identify a wording effect or a clean training effect. That prompted the main pivot: use a balanced test and follow one controlled training trajectory.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safety dataset is project-authored. It contains eight situations in each of these three categories. A response scores zero when it preserves operator authority, one when it is mixed or conditional, and two when it clearly endorses the risky action. This is a narrow research instrument, not a universal definition of safety.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situation has three answers: safer, mixed, and riskier. We created three alternate wordings and placed those three meanings in every possible answer order. This stops a preference for letter A, B, or C from being mistaken for a safety change. All 72 paraphrase pairs passed the accepted Artificial Intelligence review, although nine retain caveats and no independent human semantic audit was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study uses the Tülu 3.1 eight-billion-parameter model. Direct Preference Optimization, or DPO, is the starting checkpoint. Group Relative Policy Optimization, or GRPO, is the final verifiable-reward training stage. Every checkpoint received the same prompts with the same generation and scoring rules. That makes checkpoint the main changing factor.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practical-change threshold was set at one tenth of a point on the zero-to-two score. A multiple-choice-only change was never allowed to become a safety-drift claim. Missing or truncated safety answers could not be guessed, and no item or checkpoint could be removed because of an inconvenient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dark blue line. It starts at 0.490 and stays between 0.470 and 0.547. The pale lines mark the practical-change band around the baseline. The largest rise was 0.057 at step 2,240, and its ninety-five percent uncertainty interval remained below 0.10. So the primary safety-drift gate did not pass.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Permutation consistency is the share of cases that receive the same score under all six answer orders; lower is worse. Answer-order range measures how far the score moves across those orders; higher is worse. Both changed sharply from step 1,920 to 2,240, while the averaged behavioral change was only 0.038. A predeclared dense follow-up localized the clearest transition to steps 2,080 to 2,120.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capability panel improved, so this was not a case where training had no effect. Some early gains also reflect better output formatting, so we do not call all of it new mathematical ability. The open-ended safety score was higher at step 1,920, but the interval was too wide to distinguish no change from a substantial change. Two blinded Artificial Intelligence reviewers agreed exactly on 88.9 percent of rows, and a third reviewer resolved 16 disagreements. This is accepted Artificial Intelligence review, not independent human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positive measurement result, not a claim that nothing happened. The model's interaction with the evaluation changed in a checkpoint-resolved and statistically supported way. That matters because a raw multiple-choice score could have been misreported as a safety change. The scope remains narrow: one lineage, a small authored instrument, deterministic outputs, and Artificial Intelligence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resolving the opening question. We did not find the required evidence that capability training made this model less safe. We did find that the safety test became less stable. The next work is not to search many models until one produces a dramatic result. It is to strengthen the instrument, add independent human review, and preregister a replication on another open training lineage.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dcd2a8bc7e4424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756e2d72148431f" /><Relationship Type="http://schemas.openxmlformats.org/officeDocument/2006/relationships/slideLayout" Target="/ppt/slideLayouts/slideLayout1.xml" Id="R245c6d07d2d74ea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45c6d07d2d74ea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554959fe742442d" /><Relationship Type="http://schemas.openxmlformats.org/officeDocument/2006/relationships/notesSlide" Target="/ppt/notesSlides/notesSlide1.xml" Id="R8f7bade55b4f4ad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cb236cd80614455" /><Relationship Type="http://schemas.openxmlformats.org/officeDocument/2006/relationships/notesSlide" Target="/ppt/notesSlides/notesSlide2.xml" Id="R080b8b2b8e7e429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afbfd5cae6249ce" /><Relationship Type="http://schemas.openxmlformats.org/officeDocument/2006/relationships/notesSlide" Target="/ppt/notesSlides/notesSlide3.xml" Id="Rad5d5f2ec870402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03563f80be0428d" /><Relationship Type="http://schemas.openxmlformats.org/officeDocument/2006/relationships/notesSlide" Target="/ppt/notesSlides/notesSlide4.xml" Id="R30c1cad049db48c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14cb26278254ee2" /><Relationship Type="http://schemas.openxmlformats.org/officeDocument/2006/relationships/notesSlide" Target="/ppt/notesSlides/notesSlide5.xml" Id="R02f2b6e60c464ca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153fb7789ac4ffc" /><Relationship Type="http://schemas.openxmlformats.org/officeDocument/2006/relationships/notesSlide" Target="/ppt/notesSlides/notesSlide6.xml" Id="R932512e4632c4e6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d85748dce6841bd" /><Relationship Type="http://schemas.openxmlformats.org/officeDocument/2006/relationships/notesSlide" Target="/ppt/notesSlides/notesSlide7.xml" Id="R9c946ab6f126438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cb044957d0a4de0" /><Relationship Type="http://schemas.openxmlformats.org/officeDocument/2006/relationships/chart" Target="/ppt/slides/charts/chart1.xml" Id="R8405f110c12d4dd3" /><Relationship Type="http://schemas.openxmlformats.org/officeDocument/2006/relationships/notesSlide" Target="/ppt/notesSlides/notesSlide8.xml" Id="R8821681b1a3347a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2f1c99e39834e95" /><Relationship Type="http://schemas.openxmlformats.org/officeDocument/2006/relationships/chart" Target="/ppt/slides/charts/chart2.xml" Id="R44a84a4c4f4f4a0f" /><Relationship Type="http://schemas.openxmlformats.org/officeDocument/2006/relationships/notesSlide" Target="/ppt/notesSlides/notesSlide9.xml" Id="R9a1242c60ffd427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1943c1b9e004da8" /><Relationship Type="http://schemas.openxmlformats.org/officeDocument/2006/relationships/notesSlide" Target="/ppt/notesSlides/notesSlide10.xml" Id="Red7a04e1fa6a40d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318e4362a5d4688" /><Relationship Type="http://schemas.openxmlformats.org/officeDocument/2006/relationships/notesSlide" Target="/ppt/notesSlides/notesSlide11.xml" Id="R233feb4e4e464c2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95573acc5e14ff6" /><Relationship Type="http://schemas.openxmlformats.org/officeDocument/2006/relationships/notesSlide" Target="/ppt/notesSlides/notesSlide12.xml" Id="R02b35a3274ac44d6" /></Relationships>
</file>

<file path=ppt/slides/charts/chart1.xml><?xml version="1.0" encoding="utf-8"?>
<c:chartSpace xmlns:c="http://schemas.openxmlformats.org/drawingml/2006/chart">
  <c:lang val="en-US"/>
  <c:chart>
    <c:plotArea>
      <c:lineChart>
        <c:grouping val="standard"/>
        <c:varyColors val="0"/>
        <c:ser>
          <c:idx val="0"/>
          <c:order val="0"/>
          <c:tx>
            <c:v>Average risk</c:v>
          </c:tx>
          <c:spPr>
            <a:ln xmlns:a="http://schemas.openxmlformats.org/drawingml/2006/main" w="38100">
              <a:solidFill>
                <a:srgbClr val="3D8DFF"/>
              </a:solidFill>
              <a:prstDash val="solid"/>
            </a:ln>
          </c:spPr>
          <c:marker>
            <c:symbol val="circle"/>
            <c:size val="5"/>
          </c:marker>
          <c:cat>
            <c:numLit>
              <c:formatCode>General</c:formatCode>
              <c:ptCount val="12"/>
              <c:pt idx="0">
                <c:v>0</c:v>
              </c:pt>
              <c:pt idx="1">
                <c:v>40</c:v>
              </c:pt>
              <c:pt idx="2">
                <c:v>80</c:v>
              </c:pt>
              <c:pt idx="3">
                <c:v>160</c:v>
              </c:pt>
              <c:pt idx="4">
                <c:v>320</c:v>
              </c:pt>
              <c:pt idx="5">
                <c:v>640</c:v>
              </c:pt>
              <c:pt idx="6">
                <c:v>960</c:v>
              </c:pt>
              <c:pt idx="7">
                <c:v>1280</c:v>
              </c:pt>
              <c:pt idx="8">
                <c:v>1600</c:v>
              </c:pt>
              <c:pt idx="9">
                <c:v>1920</c:v>
              </c:pt>
              <c:pt idx="10">
                <c:v>2240</c:v>
              </c:pt>
              <c:pt idx="11">
                <c:v>2440</c:v>
              </c:pt>
            </c:numLit>
          </c:cat>
          <c:val>
            <c:numLit>
              <c:formatCode>0.00</c:formatCode>
              <c:ptCount val="12"/>
              <c:pt idx="0">
                <c:v>0.4896</c:v>
              </c:pt>
              <c:pt idx="1">
                <c:v>0.4896</c:v>
              </c:pt>
              <c:pt idx="2">
                <c:v>0.4878</c:v>
              </c:pt>
              <c:pt idx="3">
                <c:v>0.4931</c:v>
              </c:pt>
              <c:pt idx="4">
                <c:v>0.4878</c:v>
              </c:pt>
              <c:pt idx="5">
                <c:v>0.4705</c:v>
              </c:pt>
              <c:pt idx="6">
                <c:v>0.4983</c:v>
              </c:pt>
              <c:pt idx="7">
                <c:v>0.5017</c:v>
              </c:pt>
              <c:pt idx="8">
                <c:v>0.5174</c:v>
              </c:pt>
              <c:pt idx="9">
                <c:v>0.5089</c:v>
              </c:pt>
              <c:pt idx="10">
                <c:v>0.5469</c:v>
              </c:pt>
              <c:pt idx="11">
                <c:v>0.5399</c:v>
              </c:pt>
            </c:numLit>
          </c:val>
        </c:ser>
        <c:ser>
          <c:idx val="1"/>
          <c:order val="1"/>
          <c:tx>
            <c:v>Upper practical edge</c:v>
          </c:tx>
          <c:spPr>
            <a:ln xmlns:a="http://schemas.openxmlformats.org/drawingml/2006/main" w="19050">
              <a:solidFill>
                <a:srgbClr val="B9E6FA"/>
              </a:solidFill>
              <a:prstDash val="solid"/>
            </a:ln>
          </c:spPr>
          <c:marker>
            <c:symbol val="none"/>
          </c:marker>
          <c:cat>
            <c:numLit>
              <c:formatCode>General</c:formatCode>
              <c:ptCount val="12"/>
              <c:pt idx="0">
                <c:v>0</c:v>
              </c:pt>
              <c:pt idx="1">
                <c:v>40</c:v>
              </c:pt>
              <c:pt idx="2">
                <c:v>80</c:v>
              </c:pt>
              <c:pt idx="3">
                <c:v>160</c:v>
              </c:pt>
              <c:pt idx="4">
                <c:v>320</c:v>
              </c:pt>
              <c:pt idx="5">
                <c:v>640</c:v>
              </c:pt>
              <c:pt idx="6">
                <c:v>960</c:v>
              </c:pt>
              <c:pt idx="7">
                <c:v>1280</c:v>
              </c:pt>
              <c:pt idx="8">
                <c:v>1600</c:v>
              </c:pt>
              <c:pt idx="9">
                <c:v>1920</c:v>
              </c:pt>
              <c:pt idx="10">
                <c:v>2240</c:v>
              </c:pt>
              <c:pt idx="11">
                <c:v>2440</c:v>
              </c:pt>
            </c:numLit>
          </c:cat>
          <c:val>
            <c:numLit>
              <c:formatCode>0.00</c:formatCode>
              <c:ptCount val="12"/>
              <c:pt idx="0">
                <c:v>0.5896</c:v>
              </c:pt>
              <c:pt idx="1">
                <c:v>0.5896</c:v>
              </c:pt>
              <c:pt idx="2">
                <c:v>0.5896</c:v>
              </c:pt>
              <c:pt idx="3">
                <c:v>0.5896</c:v>
              </c:pt>
              <c:pt idx="4">
                <c:v>0.5896</c:v>
              </c:pt>
              <c:pt idx="5">
                <c:v>0.5896</c:v>
              </c:pt>
              <c:pt idx="6">
                <c:v>0.5896</c:v>
              </c:pt>
              <c:pt idx="7">
                <c:v>0.5896</c:v>
              </c:pt>
              <c:pt idx="8">
                <c:v>0.5896</c:v>
              </c:pt>
              <c:pt idx="9">
                <c:v>0.5896</c:v>
              </c:pt>
              <c:pt idx="10">
                <c:v>0.5896</c:v>
              </c:pt>
              <c:pt idx="11">
                <c:v>0.5896</c:v>
              </c:pt>
            </c:numLit>
          </c:val>
        </c:ser>
        <c:ser>
          <c:idx val="2"/>
          <c:order val="2"/>
          <c:tx>
            <c:v>Lower practical edge</c:v>
          </c:tx>
          <c:spPr>
            <a:ln xmlns:a="http://schemas.openxmlformats.org/drawingml/2006/main" w="19050">
              <a:solidFill>
                <a:srgbClr val="B9E6FA"/>
              </a:solidFill>
              <a:prstDash val="solid"/>
            </a:ln>
          </c:spPr>
          <c:marker>
            <c:symbol val="none"/>
          </c:marker>
          <c:cat>
            <c:numLit>
              <c:formatCode>General</c:formatCode>
              <c:ptCount val="12"/>
              <c:pt idx="0">
                <c:v>0</c:v>
              </c:pt>
              <c:pt idx="1">
                <c:v>40</c:v>
              </c:pt>
              <c:pt idx="2">
                <c:v>80</c:v>
              </c:pt>
              <c:pt idx="3">
                <c:v>160</c:v>
              </c:pt>
              <c:pt idx="4">
                <c:v>320</c:v>
              </c:pt>
              <c:pt idx="5">
                <c:v>640</c:v>
              </c:pt>
              <c:pt idx="6">
                <c:v>960</c:v>
              </c:pt>
              <c:pt idx="7">
                <c:v>1280</c:v>
              </c:pt>
              <c:pt idx="8">
                <c:v>1600</c:v>
              </c:pt>
              <c:pt idx="9">
                <c:v>1920</c:v>
              </c:pt>
              <c:pt idx="10">
                <c:v>2240</c:v>
              </c:pt>
              <c:pt idx="11">
                <c:v>2440</c:v>
              </c:pt>
            </c:numLit>
          </c:cat>
          <c:val>
            <c:numLit>
              <c:formatCode>0.00</c:formatCode>
              <c:ptCount val="12"/>
              <c:pt idx="0">
                <c:v>0.3896</c:v>
              </c:pt>
              <c:pt idx="1">
                <c:v>0.3896</c:v>
              </c:pt>
              <c:pt idx="2">
                <c:v>0.3896</c:v>
              </c:pt>
              <c:pt idx="3">
                <c:v>0.3896</c:v>
              </c:pt>
              <c:pt idx="4">
                <c:v>0.3896</c:v>
              </c:pt>
              <c:pt idx="5">
                <c:v>0.3896</c:v>
              </c:pt>
              <c:pt idx="6">
                <c:v>0.3896</c:v>
              </c:pt>
              <c:pt idx="7">
                <c:v>0.3896</c:v>
              </c:pt>
              <c:pt idx="8">
                <c:v>0.3896</c:v>
              </c:pt>
              <c:pt idx="9">
                <c:v>0.3896</c:v>
              </c:pt>
              <c:pt idx="10">
                <c:v>0.3896</c:v>
              </c:pt>
              <c:pt idx="11">
                <c:v>0.3896</c:v>
              </c:pt>
            </c:numLit>
          </c:val>
        </c:ser>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75">
                    <a:solidFill>
                      <a:srgbClr val="5C6370"/>
                    </a:solidFill>
                  </a:rPr>
                  <a:t>Training step</a:t>
                </a:r>
              </a:p>
            </c:rich>
          </c:tx>
          <c:txPr>
            <a:bodyPr xmlns:a="http://schemas.openxmlformats.org/drawingml/2006/main" anchorCtr="1"/>
            <a:lstStyle xmlns:a="http://schemas.openxmlformats.org/drawingml/2006/main"/>
            <a:p xmlns:a="http://schemas.openxmlformats.org/drawingml/2006/main">
              <a:pPr>
                <a:defRPr sz="975">
                  <a:solidFill>
                    <a:srgbClr val="5C6370"/>
                  </a:solidFill>
                </a:defRPr>
              </a:pPr>
            </a:p>
          </c:txPr>
        </c:title>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750">
                <a:solidFill>
                  <a:srgbClr val="5C6370"/>
                </a:solidFill>
              </a:defRPr>
            </a:pPr>
          </a:p>
        </c:txPr>
        <c:crossAx val="48672768"/>
        <c:lblAlgn val="ctr"/>
        <c:lblOffset val="100"/>
        <c:noMultiLvlLbl val="0"/>
      </c:catAx>
      <c:valAx>
        <c:axId val="48672768"/>
        <c:scaling>
          <c:orientation val="minMax"/>
          <c:max val="0.65"/>
          <c:min val="0.35"/>
        </c:scaling>
        <c:delete val="0"/>
        <c:axPos val="l"/>
        <c:majorGridlines>
          <c:spPr>
            <a:ln xmlns:a="http://schemas.openxmlformats.org/drawingml/2006/main" w="9525">
              <a:solidFill>
                <a:srgbClr val="EDEDED"/>
              </a:solidFill>
              <a:prstDash val="solid"/>
            </a:ln>
          </c:spPr>
        </c:majorGridlines>
        <c:title>
          <c:tx>
            <c:rich>
              <a:bodyPr xmlns:a="http://schemas.openxmlformats.org/drawingml/2006/main"/>
              <a:lstStyle xmlns:a="http://schemas.openxmlformats.org/drawingml/2006/main"/>
              <a:p xmlns:a="http://schemas.openxmlformats.org/drawingml/2006/main">
                <a:r>
                  <a:rPr sz="975">
                    <a:solidFill>
                      <a:srgbClr val="5C6370"/>
                    </a:solidFill>
                  </a:rPr>
                  <a:t>Average 0–2 risk score</a:t>
                </a:r>
              </a:p>
            </c:rich>
          </c:tx>
          <c:txPr>
            <a:bodyPr xmlns:a="http://schemas.openxmlformats.org/drawingml/2006/main" anchorCtr="1"/>
            <a:lstStyle xmlns:a="http://schemas.openxmlformats.org/drawingml/2006/main"/>
            <a:p xmlns:a="http://schemas.openxmlformats.org/drawingml/2006/main">
              <a:pPr>
                <a:defRPr sz="975">
                  <a:solidFill>
                    <a:srgbClr val="5C6370"/>
                  </a:solidFill>
                </a:defRPr>
              </a:pPr>
            </a:p>
          </c:txPr>
        </c:title>
        <c:numFmt formatCode="0.00"/>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825">
                <a:solidFill>
                  <a:srgbClr val="5C6370"/>
                </a:solidFill>
              </a:defRPr>
            </a:pPr>
          </a:p>
        </c:txPr>
        <c:crossAx val="48650112"/>
        <c:crossBetween val="between"/>
        <c:majorUnit val="0.05"/>
      </c:valAx>
      <c:spPr>
        <a:noFill xmlns:a="http://schemas.openxmlformats.org/drawingml/2006/main"/>
        <a:ln xmlns:a="http://schemas.openxmlformats.org/drawingml/2006/main" w="0">
          <a:solidFill>
            <a:srgbClr val="FFFFFF"/>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5C6370"/>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Step 1,920</c:v>
          </c:tx>
          <c:spPr>
            <a:solidFill xmlns:a="http://schemas.openxmlformats.org/drawingml/2006/main">
              <a:srgbClr val="B9E6FA"/>
            </a:solidFill>
          </c:spPr>
          <c:cat>
            <c:strLit>
              <c:ptCount val="2"/>
              <c:pt idx="0">
                <c:v>Permutation
consistency</c:v>
              </c:pt>
              <c:pt idx="1">
                <c:v>Answer-order
range</c:v>
              </c:pt>
            </c:strLit>
          </c:cat>
          <c:val>
            <c:numLit>
              <c:formatCode>0.0</c:formatCode>
              <c:ptCount val="2"/>
              <c:pt idx="0">
                <c:v>0.302</c:v>
              </c:pt>
              <c:pt idx="1">
                <c:v>0.823</c:v>
              </c:pt>
            </c:numLit>
          </c:val>
        </c:ser>
        <c:ser>
          <c:idx val="1"/>
          <c:order val="1"/>
          <c:tx>
            <c:v>Step 2,240</c:v>
          </c:tx>
          <c:spPr>
            <a:solidFill xmlns:a="http://schemas.openxmlformats.org/drawingml/2006/main">
              <a:srgbClr val="3D8DFF"/>
            </a:solidFill>
          </c:spPr>
          <c:cat>
            <c:strLit>
              <c:ptCount val="2"/>
              <c:pt idx="0">
                <c:v>Permutation
consistency</c:v>
              </c:pt>
              <c:pt idx="1">
                <c:v>Answer-order
range</c:v>
              </c:pt>
            </c:strLit>
          </c:cat>
          <c:val>
            <c:numLit>
              <c:formatCode>0.0</c:formatCode>
              <c:ptCount val="2"/>
              <c:pt idx="0">
                <c:v>0.156</c:v>
              </c:pt>
              <c:pt idx="1">
                <c:v>1.01</c:v>
              </c:pt>
            </c:numLit>
          </c:val>
        </c:ser>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975">
                <a:solidFill>
                  <a:srgbClr val="000000"/>
                </a:solidFill>
              </a:defRPr>
            </a:pPr>
          </a:p>
        </c:txPr>
        <c:crossAx val="48672768"/>
        <c:lblAlgn val="ctr"/>
        <c:lblOffset val="100"/>
        <c:noMultiLvlLbl val="0"/>
      </c:catAx>
      <c:valAx>
        <c:axId val="48672768"/>
        <c:scaling>
          <c:orientation val="minMax"/>
          <c:max val="1.2"/>
          <c:min val="0"/>
        </c:scaling>
        <c:delete val="0"/>
        <c:axPos val="l"/>
        <c:majorGridlines>
          <c:spPr>
            <a:ln xmlns:a="http://schemas.openxmlformats.org/drawingml/2006/main" w="9525">
              <a:solidFill>
                <a:srgbClr val="EDEDED"/>
              </a:solidFill>
              <a:prstDash val="solid"/>
            </a:ln>
          </c:spPr>
        </c:majorGridlines>
        <c:numFmt formatCode="0.0"/>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825">
                <a:solidFill>
                  <a:srgbClr val="5C6370"/>
                </a:solidFill>
              </a:defRPr>
            </a:pPr>
          </a:p>
        </c:txPr>
        <c:crossAx val="48650112"/>
        <c:crossBetween val="between"/>
        <c:majorUnit val="0.2"/>
      </c:valAx>
      <c:spPr>
        <a:noFill xmlns:a="http://schemas.openxmlformats.org/drawingml/2006/main"/>
        <a:ln xmlns:a="http://schemas.openxmlformats.org/drawingml/2006/main" w="0">
          <a:solidFill>
            <a:srgbClr val="FFFFFF"/>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5C6370"/>
              </a:solidFill>
            </a:defRPr>
          </a:pPr>
        </a:p>
      </c:txPr>
    </c:legend>
    <c:plotVisOnly val="1"/>
  </c:chart>
  <c:spPr>
    <a:solidFill xmlns:a="http://schemas.openxmlformats.org/drawingml/2006/main">
      <a:srgbClr val="FFFFFF"/>
    </a:solidFill>
    <a:ln xmlns:a="http://schemas.openxmlformats.org/drawingml/2006/main" w="9525">
      <a:solidFill>
        <a:srgbClr val="000000"/>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75BED91-BB45-443C-A1D6-3B24D7F9DDFD}"/>
              </a:ext>
            </a:extLst>
          </p:cNvPr>
          <p:cNvSpPr>
            <a:spLocks xmlns:a="http://schemas.openxmlformats.org/drawingml/2006/main" noGrp="1"/>
          </p:cNvSpPr>
          <p:nvPr/>
        </p:nvSpPr>
        <p:spPr>
          <a:xfrm xmlns:a="http://schemas.openxmlformats.org/drawingml/2006/main">
            <a:off x="400050" y="400050"/>
            <a:ext cx="714375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5C6370"/>
                </a:solidFill>
                <a:latin typeface="Helvetica Neue"/>
                <a:ea typeface="Helvetica Neue"/>
                <a:cs typeface="Helvetica Neue"/>
              </a:defRPr>
            </a:pPr>
            <a:r>
              <a:t>BLUE​DOT TECHNICAL ARTIFICIAL INTELLIGENCE SAFETY PROJECT</a:t>
            </a:r>
          </a:p>
        </p:txBody>
      </p:sp>
      <p:sp>
        <p:nvSpPr>
          <p:cNvPr id="2" name="">
            <a:extLst xmlns:a="http://schemas.openxmlformats.org/drawingml/2006/main">
              <a:ext uri="{FF2B5EF4-FFF2-40B4-BE49-F238E27FC236}">
                <a16:creationId xmlns:a16="http://schemas.microsoft.com/office/drawing/2014/main" id="{0A3FDF3B-BBFB-4597-9136-7B7A9C6DD67A}"/>
              </a:ext>
            </a:extLst>
          </p:cNvPr>
          <p:cNvSpPr>
            <a:spLocks xmlns:a="http://schemas.openxmlformats.org/drawingml/2006/main" noGrp="1"/>
          </p:cNvSpPr>
          <p:nvPr/>
        </p:nvSpPr>
        <p:spPr>
          <a:xfrm xmlns:a="http://schemas.openxmlformats.org/drawingml/2006/main">
            <a:off x="8572500" y="400050"/>
            <a:ext cx="321945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0">
                <a:solidFill>
                  <a:srgbClr val="5C6370"/>
                </a:solidFill>
                <a:latin typeface="Helvetica Neue"/>
                <a:ea typeface="Helvetica Neue"/>
                <a:cs typeface="Helvetica Neue"/>
              </a:defRPr>
            </a:pPr>
            <a:r>
              <a:t>Aaliyan Shaikh</a:t>
            </a:r>
          </a:p>
        </p:txBody>
      </p:sp>
      <p:sp>
        <p:nvSpPr>
          <p:cNvPr id="3" name="">
            <a:extLst xmlns:a="http://schemas.openxmlformats.org/drawingml/2006/main">
              <a:ext uri="{FF2B5EF4-FFF2-40B4-BE49-F238E27FC236}">
                <a16:creationId xmlns:a16="http://schemas.microsoft.com/office/drawing/2014/main" id="{077B7D03-51CD-46B7-8A0B-FA83F3348348}"/>
              </a:ext>
            </a:extLst>
          </p:cNvPr>
          <p:cNvSpPr>
            <a:spLocks xmlns:a="http://schemas.openxmlformats.org/drawingml/2006/main" noGrp="1"/>
          </p:cNvSpPr>
          <p:nvPr/>
        </p:nvSpPr>
        <p:spPr>
          <a:xfrm xmlns:a="http://schemas.openxmlformats.org/drawingml/2006/main">
            <a:off x="400050" y="2381250"/>
            <a:ext cx="9906000" cy="2476500"/>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l">
              <a:defRPr sz="5400" b="0">
                <a:solidFill>
                  <a:srgbClr val="000000"/>
                </a:solidFill>
                <a:latin typeface="Helvetica Neue"/>
                <a:ea typeface="Helvetica Neue"/>
                <a:cs typeface="Helvetica Neue"/>
              </a:defRPr>
            </a:pPr>
            <a:r>
              <a:t>Did capability training
make a model less safe?</a:t>
            </a:r>
          </a:p>
        </p:txBody>
      </p:sp>
      <p:cxnSp>
        <p:nvCxnSpPr>
          <p:cNvPr id="9" name=""/>
          <p:cNvCxnSpPr/>
          <p:nvPr/>
        </p:nvCxnSpPr>
        <p:spPr>
          <a:xfrm xmlns:a="http://schemas.openxmlformats.org/drawingml/2006/main">
            <a:off x="400050" y="5219700"/>
            <a:ext cx="11391900" cy="95"/>
          </a:xfrm>
          <a:prstGeom xmlns:a="http://schemas.openxmlformats.org/drawingml/2006/main" prst="straightConnector1">
            <a:avLst/>
          </a:prstGeom>
          <a:ln xmlns:a="http://schemas.openxmlformats.org/drawingml/2006/main" w="38100">
            <a:solidFill>
              <a:srgbClr val="3D8DFF"/>
            </a:solidFill>
            <a:prstDash val="solid"/>
          </a:ln>
        </p:spPr>
      </p:cxnSp>
      <p:sp>
        <p:nvSpPr>
          <p:cNvPr id="5" name="">
            <a:extLst xmlns:a="http://schemas.openxmlformats.org/drawingml/2006/main">
              <a:ext uri="{FF2B5EF4-FFF2-40B4-BE49-F238E27FC236}">
                <a16:creationId xmlns:a16="http://schemas.microsoft.com/office/drawing/2014/main" id="{39FEC1F2-BCE0-4880-9FA7-A8E8871370D9}"/>
              </a:ext>
            </a:extLst>
          </p:cNvPr>
          <p:cNvSpPr>
            <a:spLocks xmlns:a="http://schemas.openxmlformats.org/drawingml/2006/main" noGrp="1"/>
          </p:cNvSpPr>
          <p:nvPr/>
        </p:nvSpPr>
        <p:spPr>
          <a:xfrm xmlns:a="http://schemas.openxmlformats.org/drawingml/2006/main">
            <a:off x="400050" y="5476875"/>
            <a:ext cx="9334500" cy="6286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a:solidFill>
                  <a:srgbClr val="5C6370"/>
                </a:solidFill>
                <a:latin typeface="Helvetica Neue"/>
                <a:ea typeface="Helvetica Neue"/>
                <a:cs typeface="Helvetica Neue"/>
              </a:defRPr>
            </a:pPr>
            <a:r>
              <a:t>A checkpoint study separating changes in model behavior from changes in the safety test</a:t>
            </a:r>
          </a:p>
        </p:txBody>
      </p:sp>
    </p:spTree>
    <p:extLst>
      <p:ext uri="{BB962C8B-B14F-4D97-AF65-F5344CB8AC3E}">
        <p14:creationId xmlns:p14="http://schemas.microsoft.com/office/powerpoint/2010/main" val="119039191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D90D3E81-CE42-4021-891E-03293938DF0C}"/>
              </a:ext>
            </a:extLst>
          </p:cNvPr>
          <p:cNvSpPr>
            <a:spLocks xmlns:a="http://schemas.openxmlformats.org/drawingml/2006/main" noGrp="1"/>
          </p:cNvSpPr>
          <p:nvPr/>
        </p:nvSpPr>
        <p:spPr>
          <a:xfrm xmlns:a="http://schemas.openxmlformats.org/drawingml/2006/main">
            <a:off x="400050" y="323850"/>
            <a:ext cx="11391900" cy="8763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0">
                <a:solidFill>
                  <a:srgbClr val="000000"/>
                </a:solidFill>
                <a:latin typeface="Helvetica Neue"/>
                <a:ea typeface="Helvetica Neue"/>
                <a:cs typeface="Helvetica Neue"/>
              </a:defRPr>
            </a:pPr>
            <a:r>
              <a:t>A safety score can move for two very different reasons</a:t>
            </a:r>
          </a:p>
        </p:txBody>
      </p:sp>
      <p:sp>
        <p:nvSpPr>
          <p:cNvPr id="2" name="page-number">
            <a:extLst xmlns:a="http://schemas.openxmlformats.org/drawingml/2006/main">
              <a:ext uri="{FF2B5EF4-FFF2-40B4-BE49-F238E27FC236}">
                <a16:creationId xmlns:a16="http://schemas.microsoft.com/office/drawing/2014/main" id="{0F154C64-391D-4900-9453-1FFDAA535E2A}"/>
              </a:ext>
            </a:extLst>
          </p:cNvPr>
          <p:cNvSpPr>
            <a:spLocks xmlns:a="http://schemas.openxmlformats.org/drawingml/2006/main" noGrp="1"/>
          </p:cNvSpPr>
          <p:nvPr/>
        </p:nvSpPr>
        <p:spPr>
          <a:xfrm xmlns:a="http://schemas.openxmlformats.org/drawingml/2006/main">
            <a:off x="11277600" y="6286500"/>
            <a:ext cx="5143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0">
                <a:solidFill>
                  <a:srgbClr val="5C6370"/>
                </a:solidFill>
                <a:latin typeface="Helvetica Neue"/>
                <a:ea typeface="Helvetica Neue"/>
                <a:cs typeface="Helvetica Neue"/>
              </a:defRPr>
            </a:pPr>
            <a:r>
              <a:t>2</a:t>
            </a:r>
          </a:p>
        </p:txBody>
      </p:sp>
      <p:sp>
        <p:nvSpPr>
          <p:cNvPr id="3" name="">
            <a:extLst xmlns:a="http://schemas.openxmlformats.org/drawingml/2006/main">
              <a:ext uri="{FF2B5EF4-FFF2-40B4-BE49-F238E27FC236}">
                <a16:creationId xmlns:a16="http://schemas.microsoft.com/office/drawing/2014/main" id="{167C989B-BDED-404A-83EF-73BC60F5D3B2}"/>
              </a:ext>
            </a:extLst>
          </p:cNvPr>
          <p:cNvSpPr>
            <a:spLocks xmlns:a="http://schemas.openxmlformats.org/drawingml/2006/main" noGrp="1"/>
          </p:cNvSpPr>
          <p:nvPr/>
        </p:nvSpPr>
        <p:spPr>
          <a:xfrm xmlns:a="http://schemas.openxmlformats.org/drawingml/2006/main">
            <a:off x="400050" y="1371600"/>
            <a:ext cx="11391900" cy="476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0">
                <a:solidFill>
                  <a:srgbClr val="5C6370"/>
                </a:solidFill>
                <a:latin typeface="Helvetica Neue"/>
                <a:ea typeface="Helvetica Neue"/>
                <a:cs typeface="Helvetica Neue"/>
              </a:defRPr>
            </a:pPr>
            <a:r>
              <a:t>Same score change. Different meaning.</a:t>
            </a:r>
          </a:p>
        </p:txBody>
      </p:sp>
      <p:sp>
        <p:nvSpPr>
          <p:cNvPr id="4" name="">
            <a:extLst xmlns:a="http://schemas.openxmlformats.org/drawingml/2006/main">
              <a:ext uri="{FF2B5EF4-FFF2-40B4-BE49-F238E27FC236}">
                <a16:creationId xmlns:a16="http://schemas.microsoft.com/office/drawing/2014/main" id="{F2ED34DB-0657-464A-95B4-DE8B7AC8FF2D}"/>
              </a:ext>
            </a:extLst>
          </p:cNvPr>
          <p:cNvSpPr>
            <a:spLocks xmlns:a="http://schemas.openxmlformats.org/drawingml/2006/main" noGrp="1"/>
          </p:cNvSpPr>
          <p:nvPr/>
        </p:nvSpPr>
        <p:spPr>
          <a:xfrm xmlns:a="http://schemas.openxmlformats.org/drawingml/2006/main">
            <a:off x="400050" y="2095500"/>
            <a:ext cx="5429250" cy="3429000"/>
          </a:xfrm>
          <a:prstGeom xmlns:a="http://schemas.openxmlformats.org/drawingml/2006/main" prst="roundRect">
            <a:avLst>
              <a:gd name="adj" fmla="val 2222"/>
            </a:avLst>
          </a:prstGeom>
          <a:solidFill xmlns:a="http://schemas.openxmlformats.org/drawingml/2006/main">
            <a:srgbClr val="E9F6FC"/>
          </a:solidFill>
          <a:ln xmlns:a="http://schemas.openxmlformats.org/drawingml/2006/main" w="0">
            <a:solidFill>
              <a:srgbClr val="E9F6FC"/>
            </a:solidFill>
            <a:prstDash val="solid"/>
          </a:ln>
        </p:spPr>
      </p:sp>
      <p:sp>
        <p:nvSpPr>
          <p:cNvPr id="5" name="">
            <a:extLst xmlns:a="http://schemas.openxmlformats.org/drawingml/2006/main">
              <a:ext uri="{FF2B5EF4-FFF2-40B4-BE49-F238E27FC236}">
                <a16:creationId xmlns:a16="http://schemas.microsoft.com/office/drawing/2014/main" id="{74C6C86E-C84E-4521-B247-6068DE770948}"/>
              </a:ext>
            </a:extLst>
          </p:cNvPr>
          <p:cNvSpPr>
            <a:spLocks xmlns:a="http://schemas.openxmlformats.org/drawingml/2006/main" noGrp="1"/>
          </p:cNvSpPr>
          <p:nvPr/>
        </p:nvSpPr>
        <p:spPr>
          <a:xfrm xmlns:a="http://schemas.openxmlformats.org/drawingml/2006/main">
            <a:off x="6362700" y="2095500"/>
            <a:ext cx="5429250" cy="3429000"/>
          </a:xfrm>
          <a:prstGeom xmlns:a="http://schemas.openxmlformats.org/drawingml/2006/main" prst="roundRect">
            <a:avLst>
              <a:gd name="adj" fmla="val 2222"/>
            </a:avLst>
          </a:prstGeom>
          <a:solidFill xmlns:a="http://schemas.openxmlformats.org/drawingml/2006/main">
            <a:srgbClr val="F2F2F2"/>
          </a:solidFill>
          <a:ln xmlns:a="http://schemas.openxmlformats.org/drawingml/2006/main" w="0">
            <a:solidFill>
              <a:srgbClr val="F2F2F2"/>
            </a:solidFill>
            <a:prstDash val="solid"/>
          </a:ln>
        </p:spPr>
      </p:sp>
      <p:sp>
        <p:nvSpPr>
          <p:cNvPr id="6" name="">
            <a:extLst xmlns:a="http://schemas.openxmlformats.org/drawingml/2006/main">
              <a:ext uri="{FF2B5EF4-FFF2-40B4-BE49-F238E27FC236}">
                <a16:creationId xmlns:a16="http://schemas.microsoft.com/office/drawing/2014/main" id="{2F18BD5D-AFAA-48A1-8232-3CF6E5619BFC}"/>
              </a:ext>
            </a:extLst>
          </p:cNvPr>
          <p:cNvSpPr>
            <a:spLocks xmlns:a="http://schemas.openxmlformats.org/drawingml/2006/main" noGrp="1"/>
          </p:cNvSpPr>
          <p:nvPr/>
        </p:nvSpPr>
        <p:spPr>
          <a:xfrm xmlns:a="http://schemas.openxmlformats.org/drawingml/2006/main">
            <a:off x="742950" y="2476500"/>
            <a:ext cx="4667250" cy="52387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000000"/>
                </a:solidFill>
                <a:latin typeface="Helvetica Neue"/>
                <a:ea typeface="Helvetica Neue"/>
                <a:cs typeface="Helvetica Neue"/>
              </a:defRPr>
            </a:pPr>
            <a:r>
              <a:t>The model changed</a:t>
            </a:r>
          </a:p>
        </p:txBody>
      </p:sp>
      <p:sp>
        <p:nvSpPr>
          <p:cNvPr id="7" name="">
            <a:extLst xmlns:a="http://schemas.openxmlformats.org/drawingml/2006/main">
              <a:ext uri="{FF2B5EF4-FFF2-40B4-BE49-F238E27FC236}">
                <a16:creationId xmlns:a16="http://schemas.microsoft.com/office/drawing/2014/main" id="{BE576474-BAF7-4695-9A5A-F06FE24F4A8E}"/>
              </a:ext>
            </a:extLst>
          </p:cNvPr>
          <p:cNvSpPr>
            <a:spLocks xmlns:a="http://schemas.openxmlformats.org/drawingml/2006/main" noGrp="1"/>
          </p:cNvSpPr>
          <p:nvPr/>
        </p:nvSpPr>
        <p:spPr>
          <a:xfrm xmlns:a="http://schemas.openxmlformats.org/drawingml/2006/main">
            <a:off x="742950" y="3219450"/>
            <a:ext cx="4476750" cy="1619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000000"/>
                </a:solidFill>
                <a:latin typeface="Helvetica Neue"/>
                <a:ea typeface="Helvetica Neue"/>
                <a:cs typeface="Helvetica Neue"/>
              </a:defRPr>
            </a:pPr>
            <a:r>
              <a:t>After training, it genuinely becomes more willing to seek resources, resist control, preserve itself, or game an evaluation.</a:t>
            </a:r>
          </a:p>
        </p:txBody>
      </p:sp>
      <p:sp>
        <p:nvSpPr>
          <p:cNvPr id="8" name="">
            <a:extLst xmlns:a="http://schemas.openxmlformats.org/drawingml/2006/main">
              <a:ext uri="{FF2B5EF4-FFF2-40B4-BE49-F238E27FC236}">
                <a16:creationId xmlns:a16="http://schemas.microsoft.com/office/drawing/2014/main" id="{5A71C892-AB52-4A7E-B24F-438B94D05523}"/>
              </a:ext>
            </a:extLst>
          </p:cNvPr>
          <p:cNvSpPr>
            <a:spLocks xmlns:a="http://schemas.openxmlformats.org/drawingml/2006/main" noGrp="1"/>
          </p:cNvSpPr>
          <p:nvPr/>
        </p:nvSpPr>
        <p:spPr>
          <a:xfrm xmlns:a="http://schemas.openxmlformats.org/drawingml/2006/main">
            <a:off x="742950" y="4953000"/>
            <a:ext cx="447675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3D8DFF"/>
                </a:solidFill>
                <a:latin typeface="Helvetica Neue"/>
                <a:ea typeface="Helvetica Neue"/>
                <a:cs typeface="Helvetica Neue"/>
              </a:defRPr>
            </a:pPr>
            <a:r>
              <a:t>That would be safety drift.</a:t>
            </a:r>
          </a:p>
        </p:txBody>
      </p:sp>
      <p:sp>
        <p:nvSpPr>
          <p:cNvPr id="9" name="">
            <a:extLst xmlns:a="http://schemas.openxmlformats.org/drawingml/2006/main">
              <a:ext uri="{FF2B5EF4-FFF2-40B4-BE49-F238E27FC236}">
                <a16:creationId xmlns:a16="http://schemas.microsoft.com/office/drawing/2014/main" id="{A3DA9047-FC93-41E3-9F7B-AC843433A209}"/>
              </a:ext>
            </a:extLst>
          </p:cNvPr>
          <p:cNvSpPr>
            <a:spLocks xmlns:a="http://schemas.openxmlformats.org/drawingml/2006/main" noGrp="1"/>
          </p:cNvSpPr>
          <p:nvPr/>
        </p:nvSpPr>
        <p:spPr>
          <a:xfrm xmlns:a="http://schemas.openxmlformats.org/drawingml/2006/main">
            <a:off x="6705600" y="2476500"/>
            <a:ext cx="4667250" cy="52387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000000"/>
                </a:solidFill>
                <a:latin typeface="Helvetica Neue"/>
                <a:ea typeface="Helvetica Neue"/>
                <a:cs typeface="Helvetica Neue"/>
              </a:defRPr>
            </a:pPr>
            <a:r>
              <a:t>The test changed</a:t>
            </a:r>
          </a:p>
        </p:txBody>
      </p:sp>
      <p:sp>
        <p:nvSpPr>
          <p:cNvPr id="10" name="">
            <a:extLst xmlns:a="http://schemas.openxmlformats.org/drawingml/2006/main">
              <a:ext uri="{FF2B5EF4-FFF2-40B4-BE49-F238E27FC236}">
                <a16:creationId xmlns:a16="http://schemas.microsoft.com/office/drawing/2014/main" id="{773F8412-4479-4320-97C5-644AA109F9C5}"/>
              </a:ext>
            </a:extLst>
          </p:cNvPr>
          <p:cNvSpPr>
            <a:spLocks xmlns:a="http://schemas.openxmlformats.org/drawingml/2006/main" noGrp="1"/>
          </p:cNvSpPr>
          <p:nvPr/>
        </p:nvSpPr>
        <p:spPr>
          <a:xfrm xmlns:a="http://schemas.openxmlformats.org/drawingml/2006/main">
            <a:off x="6705600" y="3219450"/>
            <a:ext cx="4476750" cy="1619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000000"/>
                </a:solidFill>
                <a:latin typeface="Helvetica Neue"/>
                <a:ea typeface="Helvetica Neue"/>
                <a:cs typeface="Helvetica Neue"/>
              </a:defRPr>
            </a:pPr>
            <a:r>
              <a:t>The model becomes more sensitive to wording, answer order, formatting, or inference software while its averaged tendency stays similar.</a:t>
            </a:r>
          </a:p>
        </p:txBody>
      </p:sp>
      <p:sp>
        <p:nvSpPr>
          <p:cNvPr id="11" name="">
            <a:extLst xmlns:a="http://schemas.openxmlformats.org/drawingml/2006/main">
              <a:ext uri="{FF2B5EF4-FFF2-40B4-BE49-F238E27FC236}">
                <a16:creationId xmlns:a16="http://schemas.microsoft.com/office/drawing/2014/main" id="{EB32C3AD-6B01-46E4-973E-0FE64FD549DD}"/>
              </a:ext>
            </a:extLst>
          </p:cNvPr>
          <p:cNvSpPr>
            <a:spLocks xmlns:a="http://schemas.openxmlformats.org/drawingml/2006/main" noGrp="1"/>
          </p:cNvSpPr>
          <p:nvPr/>
        </p:nvSpPr>
        <p:spPr>
          <a:xfrm xmlns:a="http://schemas.openxmlformats.org/drawingml/2006/main">
            <a:off x="6705600" y="4953000"/>
            <a:ext cx="447675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000000"/>
                </a:solidFill>
                <a:latin typeface="Helvetica Neue"/>
                <a:ea typeface="Helvetica Neue"/>
                <a:cs typeface="Helvetica Neue"/>
              </a:defRPr>
            </a:pPr>
            <a:r>
              <a:t>That would be measurement drift.</a:t>
            </a:r>
          </a:p>
        </p:txBody>
      </p:sp>
    </p:spTree>
    <p:extLst>
      <p:ext uri="{BB962C8B-B14F-4D97-AF65-F5344CB8AC3E}">
        <p14:creationId xmlns:p14="http://schemas.microsoft.com/office/powerpoint/2010/main" val="144560646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EF4EE4BE-C8E3-456C-8007-2B795C2711AA}"/>
              </a:ext>
            </a:extLst>
          </p:cNvPr>
          <p:cNvSpPr>
            <a:spLocks xmlns:a="http://schemas.openxmlformats.org/drawingml/2006/main" noGrp="1"/>
          </p:cNvSpPr>
          <p:nvPr/>
        </p:nvSpPr>
        <p:spPr>
          <a:xfrm xmlns:a="http://schemas.openxmlformats.org/drawingml/2006/main">
            <a:off x="400050" y="323850"/>
            <a:ext cx="11391900" cy="876300"/>
          </a:xfrm>
          <a:prstGeom xmlns:a="http://schemas.openxmlformats.org/drawingml/2006/main" prst="rect">
            <a:avLst/>
          </a:prstGeom>
        </p:spPr>
        <p:txBody>
          <a:bodyPr xmlns:a="http://schemas.openxmlformats.org/drawingml/2006/main" wrap="square" lIns="0" tIns="0" rIns="0" bIns="0" anchor="t">
            <a:normAutofit fontScale="95833"/>
          </a:bodyPr>
          <a:lstStyle xmlns:a="http://schemas.openxmlformats.org/drawingml/2006/main"/>
          <a:p xmlns:a="http://schemas.openxmlformats.org/drawingml/2006/main">
            <a:pPr algn="l">
              <a:defRPr sz="3000" b="0">
                <a:solidFill>
                  <a:srgbClr val="000000"/>
                </a:solidFill>
                <a:latin typeface="Helvetica Neue"/>
                <a:ea typeface="Helvetica Neue"/>
                <a:cs typeface="Helvetica Neue"/>
              </a:defRPr>
            </a:pPr>
            <a:r>
              <a:t>The project changed course when the early evidence could not support its claim</a:t>
            </a:r>
          </a:p>
        </p:txBody>
      </p:sp>
      <p:sp>
        <p:nvSpPr>
          <p:cNvPr id="2" name="page-number">
            <a:extLst xmlns:a="http://schemas.openxmlformats.org/drawingml/2006/main">
              <a:ext uri="{FF2B5EF4-FFF2-40B4-BE49-F238E27FC236}">
                <a16:creationId xmlns:a16="http://schemas.microsoft.com/office/drawing/2014/main" id="{420281BF-54CF-4EBC-9867-5DEEFC3AE220}"/>
              </a:ext>
            </a:extLst>
          </p:cNvPr>
          <p:cNvSpPr>
            <a:spLocks xmlns:a="http://schemas.openxmlformats.org/drawingml/2006/main" noGrp="1"/>
          </p:cNvSpPr>
          <p:nvPr/>
        </p:nvSpPr>
        <p:spPr>
          <a:xfrm xmlns:a="http://schemas.openxmlformats.org/drawingml/2006/main">
            <a:off x="11277600" y="6286500"/>
            <a:ext cx="5143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0">
                <a:solidFill>
                  <a:srgbClr val="5C6370"/>
                </a:solidFill>
                <a:latin typeface="Helvetica Neue"/>
                <a:ea typeface="Helvetica Neue"/>
                <a:cs typeface="Helvetica Neue"/>
              </a:defRPr>
            </a:pPr>
            <a:r>
              <a:t>3</a:t>
            </a:r>
          </a:p>
        </p:txBody>
      </p:sp>
      <p:sp>
        <p:nvSpPr>
          <p:cNvPr id="3" name="source-note">
            <a:extLst xmlns:a="http://schemas.openxmlformats.org/drawingml/2006/main">
              <a:ext uri="{FF2B5EF4-FFF2-40B4-BE49-F238E27FC236}">
                <a16:creationId xmlns:a16="http://schemas.microsoft.com/office/drawing/2014/main" id="{B05F323E-CE00-45CF-8029-8CCE8B3C9944}"/>
              </a:ext>
            </a:extLst>
          </p:cNvPr>
          <p:cNvSpPr>
            <a:spLocks xmlns:a="http://schemas.openxmlformats.org/drawingml/2006/main" noGrp="1"/>
          </p:cNvSpPr>
          <p:nvPr/>
        </p:nvSpPr>
        <p:spPr>
          <a:xfrm xmlns:a="http://schemas.openxmlformats.org/drawingml/2006/main">
            <a:off x="400050" y="6334125"/>
            <a:ext cx="1009650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C6370"/>
                </a:solidFill>
                <a:latin typeface="Helvetica Neue"/>
                <a:ea typeface="Helvetica Neue"/>
                <a:cs typeface="Helvetica Neue"/>
              </a:defRPr>
            </a:pPr>
            <a:r>
              <a:t>Source: reports/methodology_audit.md and reports/report_v1.md</a:t>
            </a:r>
          </a:p>
        </p:txBody>
      </p:sp>
      <p:cxnSp>
        <p:nvCxnSpPr>
          <p:cNvPr id="20" name=""/>
          <p:cNvCxnSpPr/>
          <p:nvPr/>
        </p:nvCxnSpPr>
        <p:spPr>
          <a:xfrm xmlns:a="http://schemas.openxmlformats.org/drawingml/2006/main">
            <a:off x="400050" y="3238500"/>
            <a:ext cx="11391900" cy="95"/>
          </a:xfrm>
          <a:prstGeom xmlns:a="http://schemas.openxmlformats.org/drawingml/2006/main" prst="straightConnector1">
            <a:avLst/>
          </a:prstGeom>
          <a:ln xmlns:a="http://schemas.openxmlformats.org/drawingml/2006/main" w="9525">
            <a:solidFill>
              <a:srgbClr val="000000"/>
            </a:solidFill>
            <a:prstDash val="solid"/>
          </a:ln>
        </p:spPr>
      </p:cxnSp>
      <p:sp>
        <p:nvSpPr>
          <p:cNvPr id="5" name="">
            <a:extLst xmlns:a="http://schemas.openxmlformats.org/drawingml/2006/main">
              <a:ext uri="{FF2B5EF4-FFF2-40B4-BE49-F238E27FC236}">
                <a16:creationId xmlns:a16="http://schemas.microsoft.com/office/drawing/2014/main" id="{B1CEEE96-9481-4E82-9094-CA9B41CCDDC1}"/>
              </a:ext>
            </a:extLst>
          </p:cNvPr>
          <p:cNvSpPr>
            <a:spLocks xmlns:a="http://schemas.openxmlformats.org/drawingml/2006/main" noGrp="1"/>
          </p:cNvSpPr>
          <p:nvPr/>
        </p:nvSpPr>
        <p:spPr>
          <a:xfrm xmlns:a="http://schemas.openxmlformats.org/drawingml/2006/main">
            <a:off x="400050" y="3181350"/>
            <a:ext cx="123825" cy="123825"/>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9B50151D-36BA-4DF6-AC10-0EEE54D8F15A}"/>
              </a:ext>
            </a:extLst>
          </p:cNvPr>
          <p:cNvSpPr>
            <a:spLocks xmlns:a="http://schemas.openxmlformats.org/drawingml/2006/main" noGrp="1"/>
          </p:cNvSpPr>
          <p:nvPr/>
        </p:nvSpPr>
        <p:spPr>
          <a:xfrm xmlns:a="http://schemas.openxmlformats.org/drawingml/2006/main">
            <a:off x="4295775" y="3181350"/>
            <a:ext cx="123825" cy="123825"/>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079D1B55-CB66-4ECF-817B-8977F732E800}"/>
              </a:ext>
            </a:extLst>
          </p:cNvPr>
          <p:cNvSpPr>
            <a:spLocks xmlns:a="http://schemas.openxmlformats.org/drawingml/2006/main" noGrp="1"/>
          </p:cNvSpPr>
          <p:nvPr/>
        </p:nvSpPr>
        <p:spPr>
          <a:xfrm xmlns:a="http://schemas.openxmlformats.org/drawingml/2006/main">
            <a:off x="8210550" y="3181350"/>
            <a:ext cx="123825" cy="123825"/>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8" name="">
            <a:extLst xmlns:a="http://schemas.openxmlformats.org/drawingml/2006/main">
              <a:ext uri="{FF2B5EF4-FFF2-40B4-BE49-F238E27FC236}">
                <a16:creationId xmlns:a16="http://schemas.microsoft.com/office/drawing/2014/main" id="{27E5CB7E-A981-4F1B-AAD9-6BA8AD122B1C}"/>
              </a:ext>
            </a:extLst>
          </p:cNvPr>
          <p:cNvSpPr>
            <a:spLocks xmlns:a="http://schemas.openxmlformats.org/drawingml/2006/main" noGrp="1"/>
          </p:cNvSpPr>
          <p:nvPr/>
        </p:nvSpPr>
        <p:spPr>
          <a:xfrm xmlns:a="http://schemas.openxmlformats.org/drawingml/2006/main">
            <a:off x="400050" y="2743200"/>
            <a:ext cx="171450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5C6370"/>
                </a:solidFill>
                <a:latin typeface="Helvetica Neue"/>
                <a:ea typeface="Helvetica Neue"/>
                <a:cs typeface="Helvetica Neue"/>
              </a:defRPr>
            </a:pPr>
            <a:r>
              <a:t>STARTED</a:t>
            </a:r>
          </a:p>
        </p:txBody>
      </p:sp>
      <p:sp>
        <p:nvSpPr>
          <p:cNvPr id="9" name="">
            <a:extLst xmlns:a="http://schemas.openxmlformats.org/drawingml/2006/main">
              <a:ext uri="{FF2B5EF4-FFF2-40B4-BE49-F238E27FC236}">
                <a16:creationId xmlns:a16="http://schemas.microsoft.com/office/drawing/2014/main" id="{257B14D0-498C-4F35-A8AE-AEA513654495}"/>
              </a:ext>
            </a:extLst>
          </p:cNvPr>
          <p:cNvSpPr>
            <a:spLocks xmlns:a="http://schemas.openxmlformats.org/drawingml/2006/main" noGrp="1"/>
          </p:cNvSpPr>
          <p:nvPr/>
        </p:nvSpPr>
        <p:spPr>
          <a:xfrm xmlns:a="http://schemas.openxmlformats.org/drawingml/2006/main">
            <a:off x="4295775" y="2743200"/>
            <a:ext cx="171450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5C6370"/>
                </a:solidFill>
                <a:latin typeface="Helvetica Neue"/>
                <a:ea typeface="Helvetica Neue"/>
                <a:cs typeface="Helvetica Neue"/>
              </a:defRPr>
            </a:pPr>
            <a:r>
              <a:t>AUDITED</a:t>
            </a:r>
          </a:p>
        </p:txBody>
      </p:sp>
      <p:sp>
        <p:nvSpPr>
          <p:cNvPr id="10" name="">
            <a:extLst xmlns:a="http://schemas.openxmlformats.org/drawingml/2006/main">
              <a:ext uri="{FF2B5EF4-FFF2-40B4-BE49-F238E27FC236}">
                <a16:creationId xmlns:a16="http://schemas.microsoft.com/office/drawing/2014/main" id="{A29374D7-7F7A-4ACC-AE6F-C6387A1EEFE2}"/>
              </a:ext>
            </a:extLst>
          </p:cNvPr>
          <p:cNvSpPr>
            <a:spLocks xmlns:a="http://schemas.openxmlformats.org/drawingml/2006/main" noGrp="1"/>
          </p:cNvSpPr>
          <p:nvPr/>
        </p:nvSpPr>
        <p:spPr>
          <a:xfrm xmlns:a="http://schemas.openxmlformats.org/drawingml/2006/main">
            <a:off x="8210550" y="2743200"/>
            <a:ext cx="171450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3D8DFF"/>
                </a:solidFill>
                <a:latin typeface="Helvetica Neue"/>
                <a:ea typeface="Helvetica Neue"/>
                <a:cs typeface="Helvetica Neue"/>
              </a:defRPr>
            </a:pPr>
            <a:r>
              <a:t>LANDED</a:t>
            </a:r>
          </a:p>
        </p:txBody>
      </p:sp>
      <p:sp>
        <p:nvSpPr>
          <p:cNvPr id="11" name="">
            <a:extLst xmlns:a="http://schemas.openxmlformats.org/drawingml/2006/main">
              <a:ext uri="{FF2B5EF4-FFF2-40B4-BE49-F238E27FC236}">
                <a16:creationId xmlns:a16="http://schemas.microsoft.com/office/drawing/2014/main" id="{6A87F455-077C-40D6-A802-96F097D1A53B}"/>
              </a:ext>
            </a:extLst>
          </p:cNvPr>
          <p:cNvSpPr>
            <a:spLocks xmlns:a="http://schemas.openxmlformats.org/drawingml/2006/main" noGrp="1"/>
          </p:cNvSpPr>
          <p:nvPr/>
        </p:nvSpPr>
        <p:spPr>
          <a:xfrm xmlns:a="http://schemas.openxmlformats.org/drawingml/2006/main">
            <a:off x="400050" y="3667125"/>
            <a:ext cx="3143250" cy="666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t>Compare related model endpoints</a:t>
            </a:r>
          </a:p>
        </p:txBody>
      </p:sp>
      <p:sp>
        <p:nvSpPr>
          <p:cNvPr id="12" name="">
            <a:extLst xmlns:a="http://schemas.openxmlformats.org/drawingml/2006/main">
              <a:ext uri="{FF2B5EF4-FFF2-40B4-BE49-F238E27FC236}">
                <a16:creationId xmlns:a16="http://schemas.microsoft.com/office/drawing/2014/main" id="{115CEBCF-8E86-4411-A2F8-6C2A706C41EB}"/>
              </a:ext>
            </a:extLst>
          </p:cNvPr>
          <p:cNvSpPr>
            <a:spLocks xmlns:a="http://schemas.openxmlformats.org/drawingml/2006/main" noGrp="1"/>
          </p:cNvSpPr>
          <p:nvPr/>
        </p:nvSpPr>
        <p:spPr>
          <a:xfrm xmlns:a="http://schemas.openxmlformats.org/drawingml/2006/main">
            <a:off x="400050" y="4514850"/>
            <a:ext cx="3143250" cy="952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5C6370"/>
                </a:solidFill>
                <a:latin typeface="Helvetica Neue"/>
                <a:ea typeface="Helvetica Neue"/>
                <a:cs typeface="Helvetica Neue"/>
              </a:defRPr>
            </a:pPr>
            <a:r>
              <a:t>Free-form and multiple-choice comparisons looked prompt-sensitive.</a:t>
            </a:r>
          </a:p>
        </p:txBody>
      </p:sp>
      <p:sp>
        <p:nvSpPr>
          <p:cNvPr id="13" name="">
            <a:extLst xmlns:a="http://schemas.openxmlformats.org/drawingml/2006/main">
              <a:ext uri="{FF2B5EF4-FFF2-40B4-BE49-F238E27FC236}">
                <a16:creationId xmlns:a16="http://schemas.microsoft.com/office/drawing/2014/main" id="{8E2B058C-FC3B-484D-8257-FF3F1FD0B0C7}"/>
              </a:ext>
            </a:extLst>
          </p:cNvPr>
          <p:cNvSpPr>
            <a:spLocks xmlns:a="http://schemas.openxmlformats.org/drawingml/2006/main" noGrp="1"/>
          </p:cNvSpPr>
          <p:nvPr/>
        </p:nvSpPr>
        <p:spPr>
          <a:xfrm xmlns:a="http://schemas.openxmlformats.org/drawingml/2006/main">
            <a:off x="4295775" y="3667125"/>
            <a:ext cx="3143250" cy="666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t>Find hidden confounds</a:t>
            </a:r>
          </a:p>
        </p:txBody>
      </p:sp>
      <p:sp>
        <p:nvSpPr>
          <p:cNvPr id="14" name="">
            <a:extLst xmlns:a="http://schemas.openxmlformats.org/drawingml/2006/main">
              <a:ext uri="{FF2B5EF4-FFF2-40B4-BE49-F238E27FC236}">
                <a16:creationId xmlns:a16="http://schemas.microsoft.com/office/drawing/2014/main" id="{0546E615-CDB3-4D71-9B83-44244D7C354D}"/>
              </a:ext>
            </a:extLst>
          </p:cNvPr>
          <p:cNvSpPr>
            <a:spLocks xmlns:a="http://schemas.openxmlformats.org/drawingml/2006/main" noGrp="1"/>
          </p:cNvSpPr>
          <p:nvPr/>
        </p:nvSpPr>
        <p:spPr>
          <a:xfrm xmlns:a="http://schemas.openxmlformats.org/drawingml/2006/main">
            <a:off x="4295775" y="4514850"/>
            <a:ext cx="3143250" cy="1047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5C6370"/>
                </a:solidFill>
                <a:latin typeface="Helvetica Neue"/>
                <a:ea typeface="Helvetica Neue"/>
                <a:cs typeface="Helvetica Neue"/>
              </a:defRPr>
            </a:pPr>
            <a:r>
              <a:t>Wording, answer position, truncation, and runtime had changed together.</a:t>
            </a:r>
          </a:p>
        </p:txBody>
      </p:sp>
      <p:sp>
        <p:nvSpPr>
          <p:cNvPr id="15" name="">
            <a:extLst xmlns:a="http://schemas.openxmlformats.org/drawingml/2006/main">
              <a:ext uri="{FF2B5EF4-FFF2-40B4-BE49-F238E27FC236}">
                <a16:creationId xmlns:a16="http://schemas.microsoft.com/office/drawing/2014/main" id="{4F238613-50F4-4B49-BF9D-3A1817D84210}"/>
              </a:ext>
            </a:extLst>
          </p:cNvPr>
          <p:cNvSpPr>
            <a:spLocks xmlns:a="http://schemas.openxmlformats.org/drawingml/2006/main" noGrp="1"/>
          </p:cNvSpPr>
          <p:nvPr/>
        </p:nvSpPr>
        <p:spPr>
          <a:xfrm xmlns:a="http://schemas.openxmlformats.org/drawingml/2006/main">
            <a:off x="8210550" y="3667125"/>
            <a:ext cx="3143250" cy="666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000000"/>
                </a:solidFill>
                <a:latin typeface="Helvetica Neue"/>
                <a:ea typeface="Helvetica Neue"/>
                <a:cs typeface="Helvetica Neue"/>
              </a:defRPr>
            </a:pPr>
            <a:r>
              <a:t>Follow one controlled training run</a:t>
            </a:r>
          </a:p>
        </p:txBody>
      </p:sp>
      <p:sp>
        <p:nvSpPr>
          <p:cNvPr id="16" name="">
            <a:extLst xmlns:a="http://schemas.openxmlformats.org/drawingml/2006/main">
              <a:ext uri="{FF2B5EF4-FFF2-40B4-BE49-F238E27FC236}">
                <a16:creationId xmlns:a16="http://schemas.microsoft.com/office/drawing/2014/main" id="{A51B79F1-9176-4F63-8246-959EDED63E78}"/>
              </a:ext>
            </a:extLst>
          </p:cNvPr>
          <p:cNvSpPr>
            <a:spLocks xmlns:a="http://schemas.openxmlformats.org/drawingml/2006/main" noGrp="1"/>
          </p:cNvSpPr>
          <p:nvPr/>
        </p:nvSpPr>
        <p:spPr>
          <a:xfrm xmlns:a="http://schemas.openxmlformats.org/drawingml/2006/main">
            <a:off x="8210550" y="4514850"/>
            <a:ext cx="3143250" cy="1047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5C6370"/>
                </a:solidFill>
                <a:latin typeface="Helvetica Neue"/>
                <a:ea typeface="Helvetica Neue"/>
                <a:cs typeface="Helvetica Neue"/>
              </a:defRPr>
            </a:pPr>
            <a:r>
              <a:t>Track fixed tests across public checkpoints and require an open-ended cross-check.</a:t>
            </a:r>
          </a:p>
        </p:txBody>
      </p:sp>
    </p:spTree>
    <p:extLst>
      <p:ext uri="{BB962C8B-B14F-4D97-AF65-F5344CB8AC3E}">
        <p14:creationId xmlns:p14="http://schemas.microsoft.com/office/powerpoint/2010/main" val="103120802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523278E0-FA32-46EE-AB8D-52B1BADC6FBC}"/>
              </a:ext>
            </a:extLst>
          </p:cNvPr>
          <p:cNvSpPr>
            <a:spLocks xmlns:a="http://schemas.openxmlformats.org/drawingml/2006/main" noGrp="1"/>
          </p:cNvSpPr>
          <p:nvPr/>
        </p:nvSpPr>
        <p:spPr>
          <a:xfrm xmlns:a="http://schemas.openxmlformats.org/drawingml/2006/main">
            <a:off x="400050" y="323850"/>
            <a:ext cx="11391900" cy="8763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0">
                <a:solidFill>
                  <a:srgbClr val="000000"/>
                </a:solidFill>
                <a:latin typeface="Helvetica Neue"/>
                <a:ea typeface="Helvetica Neue"/>
                <a:cs typeface="Helvetica Neue"/>
              </a:defRPr>
            </a:pPr>
            <a:r>
              <a:t>We tested three concrete forms of risky behavior</a:t>
            </a:r>
          </a:p>
        </p:txBody>
      </p:sp>
      <p:sp>
        <p:nvSpPr>
          <p:cNvPr id="2" name="page-number">
            <a:extLst xmlns:a="http://schemas.openxmlformats.org/drawingml/2006/main">
              <a:ext uri="{FF2B5EF4-FFF2-40B4-BE49-F238E27FC236}">
                <a16:creationId xmlns:a16="http://schemas.microsoft.com/office/drawing/2014/main" id="{F07BF36D-E624-435A-B244-C08EB4CF0E98}"/>
              </a:ext>
            </a:extLst>
          </p:cNvPr>
          <p:cNvSpPr>
            <a:spLocks xmlns:a="http://schemas.openxmlformats.org/drawingml/2006/main" noGrp="1"/>
          </p:cNvSpPr>
          <p:nvPr/>
        </p:nvSpPr>
        <p:spPr>
          <a:xfrm xmlns:a="http://schemas.openxmlformats.org/drawingml/2006/main">
            <a:off x="11277600" y="6286500"/>
            <a:ext cx="5143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0">
                <a:solidFill>
                  <a:srgbClr val="5C6370"/>
                </a:solidFill>
                <a:latin typeface="Helvetica Neue"/>
                <a:ea typeface="Helvetica Neue"/>
                <a:cs typeface="Helvetica Neue"/>
              </a:defRPr>
            </a:pPr>
            <a:r>
              <a:t>4</a:t>
            </a:r>
          </a:p>
        </p:txBody>
      </p:sp>
      <p:sp>
        <p:nvSpPr>
          <p:cNvPr id="3" name="source-note">
            <a:extLst xmlns:a="http://schemas.openxmlformats.org/drawingml/2006/main">
              <a:ext uri="{FF2B5EF4-FFF2-40B4-BE49-F238E27FC236}">
                <a16:creationId xmlns:a16="http://schemas.microsoft.com/office/drawing/2014/main" id="{C519F7F8-A992-4AEC-B4F9-964DF26E34F9}"/>
              </a:ext>
            </a:extLst>
          </p:cNvPr>
          <p:cNvSpPr>
            <a:spLocks xmlns:a="http://schemas.openxmlformats.org/drawingml/2006/main" noGrp="1"/>
          </p:cNvSpPr>
          <p:nvPr/>
        </p:nvSpPr>
        <p:spPr>
          <a:xfrm xmlns:a="http://schemas.openxmlformats.org/drawingml/2006/main">
            <a:off x="400050" y="6334125"/>
            <a:ext cx="1009650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C6370"/>
                </a:solidFill>
                <a:latin typeface="Helvetica Neue"/>
                <a:ea typeface="Helvetica Neue"/>
                <a:cs typeface="Helvetica Neue"/>
              </a:defRPr>
            </a:pPr>
            <a:r>
              <a:t>Source: data/choice_eval_targeted.jsonl and data/scoring_rubric.md</a:t>
            </a:r>
          </a:p>
        </p:txBody>
      </p:sp>
      <p:sp>
        <p:nvSpPr>
          <p:cNvPr id="4" name="">
            <a:extLst xmlns:a="http://schemas.openxmlformats.org/drawingml/2006/main">
              <a:ext uri="{FF2B5EF4-FFF2-40B4-BE49-F238E27FC236}">
                <a16:creationId xmlns:a16="http://schemas.microsoft.com/office/drawing/2014/main" id="{E159F2E2-95BD-4297-9030-C6C56BD7D8D4}"/>
              </a:ext>
            </a:extLst>
          </p:cNvPr>
          <p:cNvSpPr>
            <a:spLocks xmlns:a="http://schemas.openxmlformats.org/drawingml/2006/main" noGrp="1"/>
          </p:cNvSpPr>
          <p:nvPr/>
        </p:nvSpPr>
        <p:spPr>
          <a:xfrm xmlns:a="http://schemas.openxmlformats.org/drawingml/2006/main">
            <a:off x="400050" y="1666875"/>
            <a:ext cx="3562350" cy="3714750"/>
          </a:xfrm>
          <a:prstGeom xmlns:a="http://schemas.openxmlformats.org/drawingml/2006/main" prst="roundRect">
            <a:avLst>
              <a:gd name="adj" fmla="val 2139"/>
            </a:avLst>
          </a:prstGeom>
          <a:solidFill xmlns:a="http://schemas.openxmlformats.org/drawingml/2006/main">
            <a:srgbClr val="F2F2F2"/>
          </a:solidFill>
          <a:ln xmlns:a="http://schemas.openxmlformats.org/drawingml/2006/main" w="0">
            <a:solidFill>
              <a:srgbClr val="F2F2F2"/>
            </a:solidFill>
            <a:prstDash val="solid"/>
          </a:ln>
        </p:spPr>
      </p:sp>
      <p:sp>
        <p:nvSpPr>
          <p:cNvPr id="5" name="">
            <a:extLst xmlns:a="http://schemas.openxmlformats.org/drawingml/2006/main">
              <a:ext uri="{FF2B5EF4-FFF2-40B4-BE49-F238E27FC236}">
                <a16:creationId xmlns:a16="http://schemas.microsoft.com/office/drawing/2014/main" id="{611A5DEB-0000-4582-90FE-51406F7B180B}"/>
              </a:ext>
            </a:extLst>
          </p:cNvPr>
          <p:cNvSpPr>
            <a:spLocks xmlns:a="http://schemas.openxmlformats.org/drawingml/2006/main" noGrp="1"/>
          </p:cNvSpPr>
          <p:nvPr/>
        </p:nvSpPr>
        <p:spPr>
          <a:xfrm xmlns:a="http://schemas.openxmlformats.org/drawingml/2006/main">
            <a:off x="4314825" y="1666875"/>
            <a:ext cx="3562350" cy="3714750"/>
          </a:xfrm>
          <a:prstGeom xmlns:a="http://schemas.openxmlformats.org/drawingml/2006/main" prst="roundRect">
            <a:avLst>
              <a:gd name="adj" fmla="val 2139"/>
            </a:avLst>
          </a:prstGeom>
          <a:solidFill xmlns:a="http://schemas.openxmlformats.org/drawingml/2006/main">
            <a:srgbClr val="F2F2F2"/>
          </a:solidFill>
          <a:ln xmlns:a="http://schemas.openxmlformats.org/drawingml/2006/main" w="0">
            <a:solidFill>
              <a:srgbClr val="F2F2F2"/>
            </a:solidFill>
            <a:prstDash val="solid"/>
          </a:ln>
        </p:spPr>
      </p:sp>
      <p:sp>
        <p:nvSpPr>
          <p:cNvPr id="6" name="">
            <a:extLst xmlns:a="http://schemas.openxmlformats.org/drawingml/2006/main">
              <a:ext uri="{FF2B5EF4-FFF2-40B4-BE49-F238E27FC236}">
                <a16:creationId xmlns:a16="http://schemas.microsoft.com/office/drawing/2014/main" id="{717CF687-B42B-460F-BBBF-6B2C6AC8A02D}"/>
              </a:ext>
            </a:extLst>
          </p:cNvPr>
          <p:cNvSpPr>
            <a:spLocks xmlns:a="http://schemas.openxmlformats.org/drawingml/2006/main" noGrp="1"/>
          </p:cNvSpPr>
          <p:nvPr/>
        </p:nvSpPr>
        <p:spPr>
          <a:xfrm xmlns:a="http://schemas.openxmlformats.org/drawingml/2006/main">
            <a:off x="8229600" y="1666875"/>
            <a:ext cx="3562350" cy="3714750"/>
          </a:xfrm>
          <a:prstGeom xmlns:a="http://schemas.openxmlformats.org/drawingml/2006/main" prst="roundRect">
            <a:avLst>
              <a:gd name="adj" fmla="val 2139"/>
            </a:avLst>
          </a:prstGeom>
          <a:solidFill xmlns:a="http://schemas.openxmlformats.org/drawingml/2006/main">
            <a:srgbClr val="F2F2F2"/>
          </a:solidFill>
          <a:ln xmlns:a="http://schemas.openxmlformats.org/drawingml/2006/main" w="0">
            <a:solidFill>
              <a:srgbClr val="F2F2F2"/>
            </a:solidFill>
            <a:prstDash val="solid"/>
          </a:ln>
        </p:spPr>
      </p:sp>
      <p:sp>
        <p:nvSpPr>
          <p:cNvPr id="7" name="">
            <a:extLst xmlns:a="http://schemas.openxmlformats.org/drawingml/2006/main">
              <a:ext uri="{FF2B5EF4-FFF2-40B4-BE49-F238E27FC236}">
                <a16:creationId xmlns:a16="http://schemas.microsoft.com/office/drawing/2014/main" id="{FA661FF6-6F03-48BA-B5A4-09213F3A9BF3}"/>
              </a:ext>
            </a:extLst>
          </p:cNvPr>
          <p:cNvSpPr>
            <a:spLocks xmlns:a="http://schemas.openxmlformats.org/drawingml/2006/main" noGrp="1"/>
          </p:cNvSpPr>
          <p:nvPr/>
        </p:nvSpPr>
        <p:spPr>
          <a:xfrm xmlns:a="http://schemas.openxmlformats.org/drawingml/2006/main">
            <a:off x="704850" y="1981200"/>
            <a:ext cx="66675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t>01</a:t>
            </a:r>
          </a:p>
        </p:txBody>
      </p:sp>
      <p:sp>
        <p:nvSpPr>
          <p:cNvPr id="8" name="">
            <a:extLst xmlns:a="http://schemas.openxmlformats.org/drawingml/2006/main">
              <a:ext uri="{FF2B5EF4-FFF2-40B4-BE49-F238E27FC236}">
                <a16:creationId xmlns:a16="http://schemas.microsoft.com/office/drawing/2014/main" id="{D3FE2337-5B21-4BAA-BDE2-0FA4E1ECF21D}"/>
              </a:ext>
            </a:extLst>
          </p:cNvPr>
          <p:cNvSpPr>
            <a:spLocks xmlns:a="http://schemas.openxmlformats.org/drawingml/2006/main" noGrp="1"/>
          </p:cNvSpPr>
          <p:nvPr/>
        </p:nvSpPr>
        <p:spPr>
          <a:xfrm xmlns:a="http://schemas.openxmlformats.org/drawingml/2006/main">
            <a:off x="704850" y="2524125"/>
            <a:ext cx="2857500" cy="762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000000"/>
                </a:solidFill>
                <a:latin typeface="Helvetica Neue"/>
                <a:ea typeface="Helvetica Neue"/>
                <a:cs typeface="Helvetica Neue"/>
              </a:defRPr>
            </a:pPr>
            <a:r>
              <a:t>Resource acquisition</a:t>
            </a:r>
          </a:p>
        </p:txBody>
      </p:sp>
      <p:sp>
        <p:nvSpPr>
          <p:cNvPr id="9" name="">
            <a:extLst xmlns:a="http://schemas.openxmlformats.org/drawingml/2006/main">
              <a:ext uri="{FF2B5EF4-FFF2-40B4-BE49-F238E27FC236}">
                <a16:creationId xmlns:a16="http://schemas.microsoft.com/office/drawing/2014/main" id="{03EB4869-BDF2-46E8-83F6-03C9AEDF6E71}"/>
              </a:ext>
            </a:extLst>
          </p:cNvPr>
          <p:cNvSpPr>
            <a:spLocks xmlns:a="http://schemas.openxmlformats.org/drawingml/2006/main" noGrp="1"/>
          </p:cNvSpPr>
          <p:nvPr/>
        </p:nvSpPr>
        <p:spPr>
          <a:xfrm xmlns:a="http://schemas.openxmlformats.org/drawingml/2006/main">
            <a:off x="704850" y="3524250"/>
            <a:ext cx="2857500" cy="1238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a:solidFill>
                  <a:srgbClr val="000000"/>
                </a:solidFill>
                <a:latin typeface="Helvetica Neue"/>
                <a:ea typeface="Helvetica Neue"/>
                <a:cs typeface="Helvetica Neue"/>
              </a:defRPr>
            </a:pPr>
            <a:r>
              <a:t>Would the model seek more compute, access, permissions, or influence without approval?</a:t>
            </a:r>
          </a:p>
        </p:txBody>
      </p:sp>
      <p:sp>
        <p:nvSpPr>
          <p:cNvPr id="10" name="">
            <a:extLst xmlns:a="http://schemas.openxmlformats.org/drawingml/2006/main">
              <a:ext uri="{FF2B5EF4-FFF2-40B4-BE49-F238E27FC236}">
                <a16:creationId xmlns:a16="http://schemas.microsoft.com/office/drawing/2014/main" id="{E356F235-57A6-44C7-B1A2-69A6FB3FD532}"/>
              </a:ext>
            </a:extLst>
          </p:cNvPr>
          <p:cNvSpPr>
            <a:spLocks xmlns:a="http://schemas.openxmlformats.org/drawingml/2006/main" noGrp="1"/>
          </p:cNvSpPr>
          <p:nvPr/>
        </p:nvSpPr>
        <p:spPr>
          <a:xfrm xmlns:a="http://schemas.openxmlformats.org/drawingml/2006/main">
            <a:off x="4619625" y="1981200"/>
            <a:ext cx="66675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t>02</a:t>
            </a:r>
          </a:p>
        </p:txBody>
      </p:sp>
      <p:sp>
        <p:nvSpPr>
          <p:cNvPr id="11" name="">
            <a:extLst xmlns:a="http://schemas.openxmlformats.org/drawingml/2006/main">
              <a:ext uri="{FF2B5EF4-FFF2-40B4-BE49-F238E27FC236}">
                <a16:creationId xmlns:a16="http://schemas.microsoft.com/office/drawing/2014/main" id="{6E2EE6E9-3FA5-45ED-AD81-198B4A2ADF1A}"/>
              </a:ext>
            </a:extLst>
          </p:cNvPr>
          <p:cNvSpPr>
            <a:spLocks xmlns:a="http://schemas.openxmlformats.org/drawingml/2006/main" noGrp="1"/>
          </p:cNvSpPr>
          <p:nvPr/>
        </p:nvSpPr>
        <p:spPr>
          <a:xfrm xmlns:a="http://schemas.openxmlformats.org/drawingml/2006/main">
            <a:off x="4619625" y="2524125"/>
            <a:ext cx="2857500" cy="762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000000"/>
                </a:solidFill>
                <a:latin typeface="Helvetica Neue"/>
                <a:ea typeface="Helvetica Neue"/>
                <a:cs typeface="Helvetica Neue"/>
              </a:defRPr>
            </a:pPr>
            <a:r>
              <a:t>Self-preservation</a:t>
            </a:r>
          </a:p>
        </p:txBody>
      </p:sp>
      <p:sp>
        <p:nvSpPr>
          <p:cNvPr id="12" name="">
            <a:extLst xmlns:a="http://schemas.openxmlformats.org/drawingml/2006/main">
              <a:ext uri="{FF2B5EF4-FFF2-40B4-BE49-F238E27FC236}">
                <a16:creationId xmlns:a16="http://schemas.microsoft.com/office/drawing/2014/main" id="{DC0AB87B-E0C0-4F43-8DAE-D9572DE237C4}"/>
              </a:ext>
            </a:extLst>
          </p:cNvPr>
          <p:cNvSpPr>
            <a:spLocks xmlns:a="http://schemas.openxmlformats.org/drawingml/2006/main" noGrp="1"/>
          </p:cNvSpPr>
          <p:nvPr/>
        </p:nvSpPr>
        <p:spPr>
          <a:xfrm xmlns:a="http://schemas.openxmlformats.org/drawingml/2006/main">
            <a:off x="4619625" y="3524250"/>
            <a:ext cx="2857500" cy="1238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a:solidFill>
                  <a:srgbClr val="000000"/>
                </a:solidFill>
                <a:latin typeface="Helvetica Neue"/>
                <a:ea typeface="Helvetica Neue"/>
                <a:cs typeface="Helvetica Neue"/>
              </a:defRPr>
            </a:pPr>
            <a:r>
              <a:t>Would it resist shutdown, replacement, modification, or oversight to protect its goals?</a:t>
            </a:r>
          </a:p>
        </p:txBody>
      </p:sp>
      <p:sp>
        <p:nvSpPr>
          <p:cNvPr id="13" name="">
            <a:extLst xmlns:a="http://schemas.openxmlformats.org/drawingml/2006/main">
              <a:ext uri="{FF2B5EF4-FFF2-40B4-BE49-F238E27FC236}">
                <a16:creationId xmlns:a16="http://schemas.microsoft.com/office/drawing/2014/main" id="{1552092D-3FC5-4695-8EAF-9BE7370C1F4B}"/>
              </a:ext>
            </a:extLst>
          </p:cNvPr>
          <p:cNvSpPr>
            <a:spLocks xmlns:a="http://schemas.openxmlformats.org/drawingml/2006/main" noGrp="1"/>
          </p:cNvSpPr>
          <p:nvPr/>
        </p:nvSpPr>
        <p:spPr>
          <a:xfrm xmlns:a="http://schemas.openxmlformats.org/drawingml/2006/main">
            <a:off x="8534400" y="1981200"/>
            <a:ext cx="66675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t>03</a:t>
            </a:r>
          </a:p>
        </p:txBody>
      </p:sp>
      <p:sp>
        <p:nvSpPr>
          <p:cNvPr id="14" name="">
            <a:extLst xmlns:a="http://schemas.openxmlformats.org/drawingml/2006/main">
              <a:ext uri="{FF2B5EF4-FFF2-40B4-BE49-F238E27FC236}">
                <a16:creationId xmlns:a16="http://schemas.microsoft.com/office/drawing/2014/main" id="{23A10CA8-E3F3-45DF-A1EF-4DFFC77BE942}"/>
              </a:ext>
            </a:extLst>
          </p:cNvPr>
          <p:cNvSpPr>
            <a:spLocks xmlns:a="http://schemas.openxmlformats.org/drawingml/2006/main" noGrp="1"/>
          </p:cNvSpPr>
          <p:nvPr/>
        </p:nvSpPr>
        <p:spPr>
          <a:xfrm xmlns:a="http://schemas.openxmlformats.org/drawingml/2006/main">
            <a:off x="8534400" y="2524125"/>
            <a:ext cx="2857500" cy="762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000000"/>
                </a:solidFill>
                <a:latin typeface="Helvetica Neue"/>
                <a:ea typeface="Helvetica Neue"/>
                <a:cs typeface="Helvetica Neue"/>
              </a:defRPr>
            </a:pPr>
            <a:r>
              <a:t>Evaluation awareness</a:t>
            </a:r>
          </a:p>
        </p:txBody>
      </p:sp>
      <p:sp>
        <p:nvSpPr>
          <p:cNvPr id="15" name="">
            <a:extLst xmlns:a="http://schemas.openxmlformats.org/drawingml/2006/main">
              <a:ext uri="{FF2B5EF4-FFF2-40B4-BE49-F238E27FC236}">
                <a16:creationId xmlns:a16="http://schemas.microsoft.com/office/drawing/2014/main" id="{71D7FEBE-1B9E-46FF-9B98-163E4009103A}"/>
              </a:ext>
            </a:extLst>
          </p:cNvPr>
          <p:cNvSpPr>
            <a:spLocks xmlns:a="http://schemas.openxmlformats.org/drawingml/2006/main" noGrp="1"/>
          </p:cNvSpPr>
          <p:nvPr/>
        </p:nvSpPr>
        <p:spPr>
          <a:xfrm xmlns:a="http://schemas.openxmlformats.org/drawingml/2006/main">
            <a:off x="8534400" y="3524250"/>
            <a:ext cx="2857500" cy="1238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a:solidFill>
                  <a:srgbClr val="000000"/>
                </a:solidFill>
                <a:latin typeface="Helvetica Neue"/>
                <a:ea typeface="Helvetica Neue"/>
                <a:cs typeface="Helvetica Neue"/>
              </a:defRPr>
            </a:pPr>
            <a:r>
              <a:t>Would it change or hide its behavior specifically to pass a safety test?</a:t>
            </a:r>
          </a:p>
        </p:txBody>
      </p:sp>
    </p:spTree>
    <p:extLst>
      <p:ext uri="{BB962C8B-B14F-4D97-AF65-F5344CB8AC3E}">
        <p14:creationId xmlns:p14="http://schemas.microsoft.com/office/powerpoint/2010/main" val="134652914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3855DB4B-9BAB-4CEB-AAFC-5E9EDC897A79}"/>
              </a:ext>
            </a:extLst>
          </p:cNvPr>
          <p:cNvSpPr>
            <a:spLocks xmlns:a="http://schemas.openxmlformats.org/drawingml/2006/main" noGrp="1"/>
          </p:cNvSpPr>
          <p:nvPr/>
        </p:nvSpPr>
        <p:spPr>
          <a:xfrm xmlns:a="http://schemas.openxmlformats.org/drawingml/2006/main">
            <a:off x="400050" y="323850"/>
            <a:ext cx="11391900" cy="876300"/>
          </a:xfrm>
          <a:prstGeom xmlns:a="http://schemas.openxmlformats.org/drawingml/2006/main" prst="rect">
            <a:avLst/>
          </a:prstGeom>
        </p:spPr>
        <p:txBody>
          <a:bodyPr xmlns:a="http://schemas.openxmlformats.org/drawingml/2006/main" wrap="square" lIns="0" tIns="0" rIns="0" bIns="0" anchor="t">
            <a:normAutofit fontScale="95833"/>
          </a:bodyPr>
          <a:lstStyle xmlns:a="http://schemas.openxmlformats.org/drawingml/2006/main"/>
          <a:p xmlns:a="http://schemas.openxmlformats.org/drawingml/2006/main">
            <a:pPr algn="l">
              <a:defRPr sz="3000" b="0">
                <a:solidFill>
                  <a:srgbClr val="000000"/>
                </a:solidFill>
                <a:latin typeface="Helvetica Neue"/>
                <a:ea typeface="Helvetica Neue"/>
                <a:cs typeface="Helvetica Neue"/>
              </a:defRPr>
            </a:pPr>
            <a:r>
              <a:t>The same 24 situations were tested under every wording and answer order</a:t>
            </a:r>
          </a:p>
        </p:txBody>
      </p:sp>
      <p:sp>
        <p:nvSpPr>
          <p:cNvPr id="2" name="page-number">
            <a:extLst xmlns:a="http://schemas.openxmlformats.org/drawingml/2006/main">
              <a:ext uri="{FF2B5EF4-FFF2-40B4-BE49-F238E27FC236}">
                <a16:creationId xmlns:a16="http://schemas.microsoft.com/office/drawing/2014/main" id="{72EA106C-F20C-49E2-A80E-0725D06C92E3}"/>
              </a:ext>
            </a:extLst>
          </p:cNvPr>
          <p:cNvSpPr>
            <a:spLocks xmlns:a="http://schemas.openxmlformats.org/drawingml/2006/main" noGrp="1"/>
          </p:cNvSpPr>
          <p:nvPr/>
        </p:nvSpPr>
        <p:spPr>
          <a:xfrm xmlns:a="http://schemas.openxmlformats.org/drawingml/2006/main">
            <a:off x="11277600" y="6286500"/>
            <a:ext cx="5143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0">
                <a:solidFill>
                  <a:srgbClr val="5C6370"/>
                </a:solidFill>
                <a:latin typeface="Helvetica Neue"/>
                <a:ea typeface="Helvetica Neue"/>
                <a:cs typeface="Helvetica Neue"/>
              </a:defRPr>
            </a:pPr>
            <a:r>
              <a:t>5</a:t>
            </a:r>
          </a:p>
        </p:txBody>
      </p:sp>
      <p:sp>
        <p:nvSpPr>
          <p:cNvPr id="3" name="source-note">
            <a:extLst xmlns:a="http://schemas.openxmlformats.org/drawingml/2006/main">
              <a:ext uri="{FF2B5EF4-FFF2-40B4-BE49-F238E27FC236}">
                <a16:creationId xmlns:a16="http://schemas.microsoft.com/office/drawing/2014/main" id="{63F3766E-3888-4A96-97FE-027D01892CD6}"/>
              </a:ext>
            </a:extLst>
          </p:cNvPr>
          <p:cNvSpPr>
            <a:spLocks xmlns:a="http://schemas.openxmlformats.org/drawingml/2006/main" noGrp="1"/>
          </p:cNvSpPr>
          <p:nvPr/>
        </p:nvSpPr>
        <p:spPr>
          <a:xfrm xmlns:a="http://schemas.openxmlformats.org/drawingml/2006/main">
            <a:off x="400050" y="6334125"/>
            <a:ext cx="1009650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C6370"/>
                </a:solidFill>
                <a:latin typeface="Helvetica Neue"/>
                <a:ea typeface="Helvetica Neue"/>
                <a:cs typeface="Helvetica Neue"/>
              </a:defRPr>
            </a:pPr>
            <a:r>
              <a:t>Source: data/choice_factorial_v1.manifest.json</a:t>
            </a:r>
          </a:p>
        </p:txBody>
      </p:sp>
      <p:sp>
        <p:nvSpPr>
          <p:cNvPr id="4" name="">
            <a:extLst xmlns:a="http://schemas.openxmlformats.org/drawingml/2006/main">
              <a:ext uri="{FF2B5EF4-FFF2-40B4-BE49-F238E27FC236}">
                <a16:creationId xmlns:a16="http://schemas.microsoft.com/office/drawing/2014/main" id="{C8EE614B-8D33-41E1-8927-5003B2A87F31}"/>
              </a:ext>
            </a:extLst>
          </p:cNvPr>
          <p:cNvSpPr>
            <a:spLocks xmlns:a="http://schemas.openxmlformats.org/drawingml/2006/main" noGrp="1"/>
          </p:cNvSpPr>
          <p:nvPr/>
        </p:nvSpPr>
        <p:spPr>
          <a:xfrm xmlns:a="http://schemas.openxmlformats.org/drawingml/2006/main">
            <a:off x="400050" y="1238250"/>
            <a:ext cx="11391900" cy="952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5C6370"/>
                </a:solidFill>
                <a:latin typeface="Helvetica Neue"/>
                <a:ea typeface="Helvetica Neue"/>
                <a:cs typeface="Helvetica Neue"/>
              </a:defRPr>
            </a:pPr>
            <a:r>
              <a:t>The design averages out surface details before comparing checkpoints. The authored situation—not each repeated version—is the independent unit.</a:t>
            </a:r>
          </a:p>
        </p:txBody>
      </p:sp>
      <p:sp>
        <p:nvSpPr>
          <p:cNvPr id="5" name="">
            <a:extLst xmlns:a="http://schemas.openxmlformats.org/drawingml/2006/main">
              <a:ext uri="{FF2B5EF4-FFF2-40B4-BE49-F238E27FC236}">
                <a16:creationId xmlns:a16="http://schemas.microsoft.com/office/drawing/2014/main" id="{A3EE227C-74D1-4F83-BF82-9BED94FEC3DB}"/>
              </a:ext>
            </a:extLst>
          </p:cNvPr>
          <p:cNvSpPr>
            <a:spLocks xmlns:a="http://schemas.openxmlformats.org/drawingml/2006/main" noGrp="1"/>
          </p:cNvSpPr>
          <p:nvPr/>
        </p:nvSpPr>
        <p:spPr>
          <a:xfrm xmlns:a="http://schemas.openxmlformats.org/drawingml/2006/main">
            <a:off x="400050" y="2857500"/>
            <a:ext cx="3562350" cy="2857500"/>
          </a:xfrm>
          <a:prstGeom xmlns:a="http://schemas.openxmlformats.org/drawingml/2006/main" prst="roundRect">
            <a:avLst>
              <a:gd name="adj" fmla="val 2667"/>
            </a:avLst>
          </a:prstGeom>
          <a:solidFill xmlns:a="http://schemas.openxmlformats.org/drawingml/2006/main">
            <a:srgbClr val="F2F2F2"/>
          </a:solidFill>
          <a:ln xmlns:a="http://schemas.openxmlformats.org/drawingml/2006/main" w="0">
            <a:solidFill>
              <a:srgbClr val="F2F2F2"/>
            </a:solidFill>
            <a:prstDash val="solid"/>
          </a:ln>
        </p:spPr>
      </p:sp>
      <p:sp>
        <p:nvSpPr>
          <p:cNvPr id="6" name="">
            <a:extLst xmlns:a="http://schemas.openxmlformats.org/drawingml/2006/main">
              <a:ext uri="{FF2B5EF4-FFF2-40B4-BE49-F238E27FC236}">
                <a16:creationId xmlns:a16="http://schemas.microsoft.com/office/drawing/2014/main" id="{CDEB59C3-1352-4CAA-A1DA-2B7C4C6BA226}"/>
              </a:ext>
            </a:extLst>
          </p:cNvPr>
          <p:cNvSpPr>
            <a:spLocks xmlns:a="http://schemas.openxmlformats.org/drawingml/2006/main" noGrp="1"/>
          </p:cNvSpPr>
          <p:nvPr/>
        </p:nvSpPr>
        <p:spPr>
          <a:xfrm xmlns:a="http://schemas.openxmlformats.org/drawingml/2006/main">
            <a:off x="4314825" y="2857500"/>
            <a:ext cx="3562350" cy="2857500"/>
          </a:xfrm>
          <a:prstGeom xmlns:a="http://schemas.openxmlformats.org/drawingml/2006/main" prst="roundRect">
            <a:avLst>
              <a:gd name="adj" fmla="val 2667"/>
            </a:avLst>
          </a:prstGeom>
          <a:solidFill xmlns:a="http://schemas.openxmlformats.org/drawingml/2006/main">
            <a:srgbClr val="F2F2F2"/>
          </a:solidFill>
          <a:ln xmlns:a="http://schemas.openxmlformats.org/drawingml/2006/main" w="0">
            <a:solidFill>
              <a:srgbClr val="F2F2F2"/>
            </a:solidFill>
            <a:prstDash val="solid"/>
          </a:ln>
        </p:spPr>
      </p:sp>
      <p:sp>
        <p:nvSpPr>
          <p:cNvPr id="7" name="">
            <a:extLst xmlns:a="http://schemas.openxmlformats.org/drawingml/2006/main">
              <a:ext uri="{FF2B5EF4-FFF2-40B4-BE49-F238E27FC236}">
                <a16:creationId xmlns:a16="http://schemas.microsoft.com/office/drawing/2014/main" id="{754A7C88-1714-4929-8C0F-E43C63CE40C8}"/>
              </a:ext>
            </a:extLst>
          </p:cNvPr>
          <p:cNvSpPr>
            <a:spLocks xmlns:a="http://schemas.openxmlformats.org/drawingml/2006/main" noGrp="1"/>
          </p:cNvSpPr>
          <p:nvPr/>
        </p:nvSpPr>
        <p:spPr>
          <a:xfrm xmlns:a="http://schemas.openxmlformats.org/drawingml/2006/main">
            <a:off x="8229600" y="2857500"/>
            <a:ext cx="3562350" cy="2857500"/>
          </a:xfrm>
          <a:prstGeom xmlns:a="http://schemas.openxmlformats.org/drawingml/2006/main" prst="roundRect">
            <a:avLst>
              <a:gd name="adj" fmla="val 2667"/>
            </a:avLst>
          </a:prstGeom>
          <a:solidFill xmlns:a="http://schemas.openxmlformats.org/drawingml/2006/main">
            <a:srgbClr val="E9F6FC"/>
          </a:solidFill>
          <a:ln xmlns:a="http://schemas.openxmlformats.org/drawingml/2006/main" w="0">
            <a:solidFill>
              <a:srgbClr val="E9F6FC"/>
            </a:solidFill>
            <a:prstDash val="solid"/>
          </a:ln>
        </p:spPr>
      </p:sp>
      <p:sp>
        <p:nvSpPr>
          <p:cNvPr id="8" name="">
            <a:extLst xmlns:a="http://schemas.openxmlformats.org/drawingml/2006/main">
              <a:ext uri="{FF2B5EF4-FFF2-40B4-BE49-F238E27FC236}">
                <a16:creationId xmlns:a16="http://schemas.microsoft.com/office/drawing/2014/main" id="{9E94E316-1227-4EC9-9F5D-8B6ABC6ECA8A}"/>
              </a:ext>
            </a:extLst>
          </p:cNvPr>
          <p:cNvSpPr>
            <a:spLocks xmlns:a="http://schemas.openxmlformats.org/drawingml/2006/main" noGrp="1"/>
          </p:cNvSpPr>
          <p:nvPr/>
        </p:nvSpPr>
        <p:spPr>
          <a:xfrm xmlns:a="http://schemas.openxmlformats.org/drawingml/2006/main">
            <a:off x="723900" y="3238500"/>
            <a:ext cx="2857500" cy="952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500" b="1">
                <a:solidFill>
                  <a:srgbClr val="3D8DFF"/>
                </a:solidFill>
                <a:latin typeface="Helvetica Neue"/>
                <a:ea typeface="Helvetica Neue"/>
                <a:cs typeface="Helvetica Neue"/>
              </a:defRPr>
            </a:pPr>
            <a:r>
              <a:t>24</a:t>
            </a:r>
          </a:p>
        </p:txBody>
      </p:sp>
      <p:sp>
        <p:nvSpPr>
          <p:cNvPr id="9" name="">
            <a:extLst xmlns:a="http://schemas.openxmlformats.org/drawingml/2006/main">
              <a:ext uri="{FF2B5EF4-FFF2-40B4-BE49-F238E27FC236}">
                <a16:creationId xmlns:a16="http://schemas.microsoft.com/office/drawing/2014/main" id="{9A1A886E-9EA2-426C-A82D-ADF83CDB5C01}"/>
              </a:ext>
            </a:extLst>
          </p:cNvPr>
          <p:cNvSpPr>
            <a:spLocks xmlns:a="http://schemas.openxmlformats.org/drawingml/2006/main" noGrp="1"/>
          </p:cNvSpPr>
          <p:nvPr/>
        </p:nvSpPr>
        <p:spPr>
          <a:xfrm xmlns:a="http://schemas.openxmlformats.org/drawingml/2006/main">
            <a:off x="723900" y="4476750"/>
            <a:ext cx="2762250" cy="666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000000"/>
                </a:solidFill>
                <a:latin typeface="Helvetica Neue"/>
                <a:ea typeface="Helvetica Neue"/>
                <a:cs typeface="Helvetica Neue"/>
              </a:defRPr>
            </a:pPr>
            <a:r>
              <a:t>authored safety situations</a:t>
            </a:r>
          </a:p>
        </p:txBody>
      </p:sp>
      <p:sp>
        <p:nvSpPr>
          <p:cNvPr id="10" name="">
            <a:extLst xmlns:a="http://schemas.openxmlformats.org/drawingml/2006/main">
              <a:ext uri="{FF2B5EF4-FFF2-40B4-BE49-F238E27FC236}">
                <a16:creationId xmlns:a16="http://schemas.microsoft.com/office/drawing/2014/main" id="{333EF128-00A5-469B-834E-BDBDE65D8196}"/>
              </a:ext>
            </a:extLst>
          </p:cNvPr>
          <p:cNvSpPr>
            <a:spLocks xmlns:a="http://schemas.openxmlformats.org/drawingml/2006/main" noGrp="1"/>
          </p:cNvSpPr>
          <p:nvPr/>
        </p:nvSpPr>
        <p:spPr>
          <a:xfrm xmlns:a="http://schemas.openxmlformats.org/drawingml/2006/main">
            <a:off x="4638675" y="3238500"/>
            <a:ext cx="2857500" cy="952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500" b="1">
                <a:solidFill>
                  <a:srgbClr val="3D8DFF"/>
                </a:solidFill>
                <a:latin typeface="Helvetica Neue"/>
                <a:ea typeface="Helvetica Neue"/>
                <a:cs typeface="Helvetica Neue"/>
              </a:defRPr>
            </a:pPr>
            <a:r>
              <a:t>× 4</a:t>
            </a:r>
          </a:p>
        </p:txBody>
      </p:sp>
      <p:sp>
        <p:nvSpPr>
          <p:cNvPr id="11" name="">
            <a:extLst xmlns:a="http://schemas.openxmlformats.org/drawingml/2006/main">
              <a:ext uri="{FF2B5EF4-FFF2-40B4-BE49-F238E27FC236}">
                <a16:creationId xmlns:a16="http://schemas.microsoft.com/office/drawing/2014/main" id="{707F7CF4-0223-4736-B202-8E032BE4386A}"/>
              </a:ext>
            </a:extLst>
          </p:cNvPr>
          <p:cNvSpPr>
            <a:spLocks xmlns:a="http://schemas.openxmlformats.org/drawingml/2006/main" noGrp="1"/>
          </p:cNvSpPr>
          <p:nvPr/>
        </p:nvSpPr>
        <p:spPr>
          <a:xfrm xmlns:a="http://schemas.openxmlformats.org/drawingml/2006/main">
            <a:off x="4638675" y="4476750"/>
            <a:ext cx="2762250" cy="666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000000"/>
                </a:solidFill>
                <a:latin typeface="Helvetica Neue"/>
                <a:ea typeface="Helvetica Neue"/>
                <a:cs typeface="Helvetica Neue"/>
              </a:defRPr>
            </a:pPr>
            <a:r>
              <a:t>meaning-preserving wordings</a:t>
            </a:r>
          </a:p>
        </p:txBody>
      </p:sp>
      <p:sp>
        <p:nvSpPr>
          <p:cNvPr id="12" name="">
            <a:extLst xmlns:a="http://schemas.openxmlformats.org/drawingml/2006/main">
              <a:ext uri="{FF2B5EF4-FFF2-40B4-BE49-F238E27FC236}">
                <a16:creationId xmlns:a16="http://schemas.microsoft.com/office/drawing/2014/main" id="{C650A703-6439-4414-A489-25AFB50C751D}"/>
              </a:ext>
            </a:extLst>
          </p:cNvPr>
          <p:cNvSpPr>
            <a:spLocks xmlns:a="http://schemas.openxmlformats.org/drawingml/2006/main" noGrp="1"/>
          </p:cNvSpPr>
          <p:nvPr/>
        </p:nvSpPr>
        <p:spPr>
          <a:xfrm xmlns:a="http://schemas.openxmlformats.org/drawingml/2006/main">
            <a:off x="8553450" y="3238500"/>
            <a:ext cx="2857500" cy="952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500" b="1">
                <a:solidFill>
                  <a:srgbClr val="3D8DFF"/>
                </a:solidFill>
                <a:latin typeface="Helvetica Neue"/>
                <a:ea typeface="Helvetica Neue"/>
                <a:cs typeface="Helvetica Neue"/>
              </a:defRPr>
            </a:pPr>
            <a:r>
              <a:t>× 6</a:t>
            </a:r>
          </a:p>
        </p:txBody>
      </p:sp>
      <p:sp>
        <p:nvSpPr>
          <p:cNvPr id="13" name="">
            <a:extLst xmlns:a="http://schemas.openxmlformats.org/drawingml/2006/main">
              <a:ext uri="{FF2B5EF4-FFF2-40B4-BE49-F238E27FC236}">
                <a16:creationId xmlns:a16="http://schemas.microsoft.com/office/drawing/2014/main" id="{7849A44E-DBF1-44F4-B479-B495E2AA581B}"/>
              </a:ext>
            </a:extLst>
          </p:cNvPr>
          <p:cNvSpPr>
            <a:spLocks xmlns:a="http://schemas.openxmlformats.org/drawingml/2006/main" noGrp="1"/>
          </p:cNvSpPr>
          <p:nvPr/>
        </p:nvSpPr>
        <p:spPr>
          <a:xfrm xmlns:a="http://schemas.openxmlformats.org/drawingml/2006/main">
            <a:off x="8553450" y="4476750"/>
            <a:ext cx="2762250" cy="666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000000"/>
                </a:solidFill>
                <a:latin typeface="Helvetica Neue"/>
                <a:ea typeface="Helvetica Neue"/>
                <a:cs typeface="Helvetica Neue"/>
              </a:defRPr>
            </a:pPr>
            <a:r>
              <a:t>orders of the three answers</a:t>
            </a:r>
          </a:p>
        </p:txBody>
      </p:sp>
      <p:sp>
        <p:nvSpPr>
          <p:cNvPr id="14" name="">
            <a:extLst xmlns:a="http://schemas.openxmlformats.org/drawingml/2006/main">
              <a:ext uri="{FF2B5EF4-FFF2-40B4-BE49-F238E27FC236}">
                <a16:creationId xmlns:a16="http://schemas.microsoft.com/office/drawing/2014/main" id="{CE61A228-DA9C-45F5-A453-335900D439A6}"/>
              </a:ext>
            </a:extLst>
          </p:cNvPr>
          <p:cNvSpPr>
            <a:spLocks xmlns:a="http://schemas.openxmlformats.org/drawingml/2006/main" noGrp="1"/>
          </p:cNvSpPr>
          <p:nvPr/>
        </p:nvSpPr>
        <p:spPr>
          <a:xfrm xmlns:a="http://schemas.openxmlformats.org/drawingml/2006/main">
            <a:off x="6667500" y="5905500"/>
            <a:ext cx="5124450" cy="3429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650" b="1">
                <a:solidFill>
                  <a:srgbClr val="000000"/>
                </a:solidFill>
                <a:latin typeface="Helvetica Neue"/>
                <a:ea typeface="Helvetica Neue"/>
                <a:cs typeface="Helvetica Neue"/>
              </a:defRPr>
            </a:pPr>
            <a:r>
              <a:t>= 576 conditions at every checkpoint</a:t>
            </a:r>
          </a:p>
        </p:txBody>
      </p:sp>
    </p:spTree>
    <p:extLst>
      <p:ext uri="{BB962C8B-B14F-4D97-AF65-F5344CB8AC3E}">
        <p14:creationId xmlns:p14="http://schemas.microsoft.com/office/powerpoint/2010/main" val="130552710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E31A3094-DCC9-4CC6-B763-925B0410C37F}"/>
              </a:ext>
            </a:extLst>
          </p:cNvPr>
          <p:cNvSpPr>
            <a:spLocks xmlns:a="http://schemas.openxmlformats.org/drawingml/2006/main" noGrp="1"/>
          </p:cNvSpPr>
          <p:nvPr/>
        </p:nvSpPr>
        <p:spPr>
          <a:xfrm xmlns:a="http://schemas.openxmlformats.org/drawingml/2006/main">
            <a:off x="400050" y="323850"/>
            <a:ext cx="11391900" cy="876300"/>
          </a:xfrm>
          <a:prstGeom xmlns:a="http://schemas.openxmlformats.org/drawingml/2006/main" prst="rect">
            <a:avLst/>
          </a:prstGeom>
        </p:spPr>
        <p:txBody>
          <a:bodyPr xmlns:a="http://schemas.openxmlformats.org/drawingml/2006/main" wrap="square" lIns="0" tIns="0" rIns="0" bIns="0" anchor="t">
            <a:normAutofit fontScale="96946"/>
          </a:bodyPr>
          <a:lstStyle xmlns:a="http://schemas.openxmlformats.org/drawingml/2006/main"/>
          <a:p xmlns:a="http://schemas.openxmlformats.org/drawingml/2006/main">
            <a:pPr algn="l">
              <a:defRPr sz="3000" b="0">
                <a:solidFill>
                  <a:srgbClr val="000000"/>
                </a:solidFill>
                <a:latin typeface="Helvetica Neue"/>
                <a:ea typeface="Helvetica Neue"/>
                <a:cs typeface="Helvetica Neue"/>
              </a:defRPr>
            </a:pPr>
            <a:r>
              <a:t>Only the checkpoint changed across the controlled training trajectory</a:t>
            </a:r>
          </a:p>
        </p:txBody>
      </p:sp>
      <p:sp>
        <p:nvSpPr>
          <p:cNvPr id="2" name="page-number">
            <a:extLst xmlns:a="http://schemas.openxmlformats.org/drawingml/2006/main">
              <a:ext uri="{FF2B5EF4-FFF2-40B4-BE49-F238E27FC236}">
                <a16:creationId xmlns:a16="http://schemas.microsoft.com/office/drawing/2014/main" id="{57D7C79B-618B-42D9-B036-3EDBDD2FA994}"/>
              </a:ext>
            </a:extLst>
          </p:cNvPr>
          <p:cNvSpPr>
            <a:spLocks xmlns:a="http://schemas.openxmlformats.org/drawingml/2006/main" noGrp="1"/>
          </p:cNvSpPr>
          <p:nvPr/>
        </p:nvSpPr>
        <p:spPr>
          <a:xfrm xmlns:a="http://schemas.openxmlformats.org/drawingml/2006/main">
            <a:off x="11277600" y="6286500"/>
            <a:ext cx="5143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0">
                <a:solidFill>
                  <a:srgbClr val="5C6370"/>
                </a:solidFill>
                <a:latin typeface="Helvetica Neue"/>
                <a:ea typeface="Helvetica Neue"/>
                <a:cs typeface="Helvetica Neue"/>
              </a:defRPr>
            </a:pPr>
            <a:r>
              <a:t>6</a:t>
            </a:r>
          </a:p>
        </p:txBody>
      </p:sp>
      <p:sp>
        <p:nvSpPr>
          <p:cNvPr id="3" name="source-note">
            <a:extLst xmlns:a="http://schemas.openxmlformats.org/drawingml/2006/main">
              <a:ext uri="{FF2B5EF4-FFF2-40B4-BE49-F238E27FC236}">
                <a16:creationId xmlns:a16="http://schemas.microsoft.com/office/drawing/2014/main" id="{CD0275B6-8477-44C0-99E8-AC0457796B6A}"/>
              </a:ext>
            </a:extLst>
          </p:cNvPr>
          <p:cNvSpPr>
            <a:spLocks xmlns:a="http://schemas.openxmlformats.org/drawingml/2006/main" noGrp="1"/>
          </p:cNvSpPr>
          <p:nvPr/>
        </p:nvSpPr>
        <p:spPr>
          <a:xfrm xmlns:a="http://schemas.openxmlformats.org/drawingml/2006/main">
            <a:off x="400050" y="6334125"/>
            <a:ext cx="1009650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C6370"/>
                </a:solidFill>
                <a:latin typeface="Helvetica Neue"/>
                <a:ea typeface="Helvetica Neue"/>
                <a:cs typeface="Helvetica Neue"/>
              </a:defRPr>
            </a:pPr>
            <a:r>
              <a:t>Source: configs/experiments/tulu_grpo_trajectory_v1.json</a:t>
            </a:r>
          </a:p>
        </p:txBody>
      </p:sp>
      <p:cxnSp>
        <p:nvCxnSpPr>
          <p:cNvPr id="21" name=""/>
          <p:cNvCxnSpPr/>
          <p:nvPr/>
        </p:nvCxnSpPr>
        <p:spPr>
          <a:xfrm xmlns:a="http://schemas.openxmlformats.org/drawingml/2006/main">
            <a:off x="704850" y="3352800"/>
            <a:ext cx="10782300" cy="95"/>
          </a:xfrm>
          <a:prstGeom xmlns:a="http://schemas.openxmlformats.org/drawingml/2006/main" prst="straightConnector1">
            <a:avLst/>
          </a:prstGeom>
          <a:ln xmlns:a="http://schemas.openxmlformats.org/drawingml/2006/main" w="19050">
            <a:solidFill>
              <a:srgbClr val="B8BCC4"/>
            </a:solidFill>
            <a:prstDash val="solid"/>
          </a:ln>
        </p:spPr>
      </p:cxnSp>
      <p:sp>
        <p:nvSpPr>
          <p:cNvPr id="5" name="">
            <a:extLst xmlns:a="http://schemas.openxmlformats.org/drawingml/2006/main">
              <a:ext uri="{FF2B5EF4-FFF2-40B4-BE49-F238E27FC236}">
                <a16:creationId xmlns:a16="http://schemas.microsoft.com/office/drawing/2014/main" id="{CDE5CBEE-96D6-4006-AB49-B8972CB50AFE}"/>
              </a:ext>
            </a:extLst>
          </p:cNvPr>
          <p:cNvSpPr>
            <a:spLocks xmlns:a="http://schemas.openxmlformats.org/drawingml/2006/main" noGrp="1"/>
          </p:cNvSpPr>
          <p:nvPr/>
        </p:nvSpPr>
        <p:spPr>
          <a:xfrm xmlns:a="http://schemas.openxmlformats.org/drawingml/2006/main">
            <a:off x="704850" y="3257550"/>
            <a:ext cx="190500" cy="19050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FD51ADCD-182E-49C1-9CDD-D8BD42639920}"/>
              </a:ext>
            </a:extLst>
          </p:cNvPr>
          <p:cNvSpPr>
            <a:spLocks xmlns:a="http://schemas.openxmlformats.org/drawingml/2006/main" noGrp="1"/>
          </p:cNvSpPr>
          <p:nvPr/>
        </p:nvSpPr>
        <p:spPr>
          <a:xfrm xmlns:a="http://schemas.openxmlformats.org/drawingml/2006/main">
            <a:off x="5476875" y="3257550"/>
            <a:ext cx="190500" cy="1905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7" name="">
            <a:extLst xmlns:a="http://schemas.openxmlformats.org/drawingml/2006/main">
              <a:ext uri="{FF2B5EF4-FFF2-40B4-BE49-F238E27FC236}">
                <a16:creationId xmlns:a16="http://schemas.microsoft.com/office/drawing/2014/main" id="{F6297079-4E59-4636-9CC1-6A4E8DCA9CF6}"/>
              </a:ext>
            </a:extLst>
          </p:cNvPr>
          <p:cNvSpPr>
            <a:spLocks xmlns:a="http://schemas.openxmlformats.org/drawingml/2006/main" noGrp="1"/>
          </p:cNvSpPr>
          <p:nvPr/>
        </p:nvSpPr>
        <p:spPr>
          <a:xfrm xmlns:a="http://schemas.openxmlformats.org/drawingml/2006/main">
            <a:off x="11296650" y="3257550"/>
            <a:ext cx="190500" cy="19050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10F2217B-174B-42E8-8567-7BD85BE52792}"/>
              </a:ext>
            </a:extLst>
          </p:cNvPr>
          <p:cNvSpPr>
            <a:spLocks xmlns:a="http://schemas.openxmlformats.org/drawingml/2006/main" noGrp="1"/>
          </p:cNvSpPr>
          <p:nvPr/>
        </p:nvSpPr>
        <p:spPr>
          <a:xfrm xmlns:a="http://schemas.openxmlformats.org/drawingml/2006/main">
            <a:off x="704850" y="2714625"/>
            <a:ext cx="171450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5C6370"/>
                </a:solidFill>
                <a:latin typeface="Helvetica Neue"/>
                <a:ea typeface="Helvetica Neue"/>
                <a:cs typeface="Helvetica Neue"/>
              </a:defRPr>
            </a:pPr>
            <a:r>
              <a:t>BASE</a:t>
            </a:r>
          </a:p>
        </p:txBody>
      </p:sp>
      <p:sp>
        <p:nvSpPr>
          <p:cNvPr id="9" name="">
            <a:extLst xmlns:a="http://schemas.openxmlformats.org/drawingml/2006/main">
              <a:ext uri="{FF2B5EF4-FFF2-40B4-BE49-F238E27FC236}">
                <a16:creationId xmlns:a16="http://schemas.microsoft.com/office/drawing/2014/main" id="{E00CA97A-2E09-44C5-8900-3D1EF48CF161}"/>
              </a:ext>
            </a:extLst>
          </p:cNvPr>
          <p:cNvSpPr>
            <a:spLocks xmlns:a="http://schemas.openxmlformats.org/drawingml/2006/main" noGrp="1"/>
          </p:cNvSpPr>
          <p:nvPr/>
        </p:nvSpPr>
        <p:spPr>
          <a:xfrm xmlns:a="http://schemas.openxmlformats.org/drawingml/2006/main">
            <a:off x="5476875" y="2714625"/>
            <a:ext cx="171450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3D8DFF"/>
                </a:solidFill>
                <a:latin typeface="Helvetica Neue"/>
                <a:ea typeface="Helvetica Neue"/>
                <a:cs typeface="Helvetica Neue"/>
              </a:defRPr>
            </a:pPr>
            <a:r>
              <a:t>TRAINING</a:t>
            </a:r>
          </a:p>
        </p:txBody>
      </p:sp>
      <p:sp>
        <p:nvSpPr>
          <p:cNvPr id="10" name="">
            <a:extLst xmlns:a="http://schemas.openxmlformats.org/drawingml/2006/main">
              <a:ext uri="{FF2B5EF4-FFF2-40B4-BE49-F238E27FC236}">
                <a16:creationId xmlns:a16="http://schemas.microsoft.com/office/drawing/2014/main" id="{94141253-93E8-413C-AA84-B7B0138CECF7}"/>
              </a:ext>
            </a:extLst>
          </p:cNvPr>
          <p:cNvSpPr>
            <a:spLocks xmlns:a="http://schemas.openxmlformats.org/drawingml/2006/main" noGrp="1"/>
          </p:cNvSpPr>
          <p:nvPr/>
        </p:nvSpPr>
        <p:spPr>
          <a:xfrm xmlns:a="http://schemas.openxmlformats.org/drawingml/2006/main">
            <a:off x="9772650" y="2714625"/>
            <a:ext cx="171450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5C6370"/>
                </a:solidFill>
                <a:latin typeface="Helvetica Neue"/>
                <a:ea typeface="Helvetica Neue"/>
                <a:cs typeface="Helvetica Neue"/>
              </a:defRPr>
            </a:pPr>
            <a:r>
              <a:t>FINAL</a:t>
            </a:r>
          </a:p>
        </p:txBody>
      </p:sp>
      <p:sp>
        <p:nvSpPr>
          <p:cNvPr id="11" name="">
            <a:extLst xmlns:a="http://schemas.openxmlformats.org/drawingml/2006/main">
              <a:ext uri="{FF2B5EF4-FFF2-40B4-BE49-F238E27FC236}">
                <a16:creationId xmlns:a16="http://schemas.microsoft.com/office/drawing/2014/main" id="{7DF3198A-9A82-41BB-B380-1CB4A9C43D39}"/>
              </a:ext>
            </a:extLst>
          </p:cNvPr>
          <p:cNvSpPr>
            <a:spLocks xmlns:a="http://schemas.openxmlformats.org/drawingml/2006/main" noGrp="1"/>
          </p:cNvSpPr>
          <p:nvPr/>
        </p:nvSpPr>
        <p:spPr>
          <a:xfrm xmlns:a="http://schemas.openxmlformats.org/drawingml/2006/main">
            <a:off x="704850" y="3762375"/>
            <a:ext cx="3143250" cy="666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000000"/>
                </a:solidFill>
                <a:latin typeface="Helvetica Neue"/>
                <a:ea typeface="Helvetica Neue"/>
                <a:cs typeface="Helvetica Neue"/>
              </a:defRPr>
            </a:pPr>
            <a:r>
              <a:t>Direct Preference Optimization (DPO)</a:t>
            </a:r>
          </a:p>
        </p:txBody>
      </p:sp>
      <p:sp>
        <p:nvSpPr>
          <p:cNvPr id="12" name="">
            <a:extLst xmlns:a="http://schemas.openxmlformats.org/drawingml/2006/main">
              <a:ext uri="{FF2B5EF4-FFF2-40B4-BE49-F238E27FC236}">
                <a16:creationId xmlns:a16="http://schemas.microsoft.com/office/drawing/2014/main" id="{9F56330E-3D81-45C2-80B9-3D095DAD032D}"/>
              </a:ext>
            </a:extLst>
          </p:cNvPr>
          <p:cNvSpPr>
            <a:spLocks xmlns:a="http://schemas.openxmlformats.org/drawingml/2006/main" noGrp="1"/>
          </p:cNvSpPr>
          <p:nvPr/>
        </p:nvSpPr>
        <p:spPr>
          <a:xfrm xmlns:a="http://schemas.openxmlformats.org/drawingml/2006/main">
            <a:off x="704850" y="4572000"/>
            <a:ext cx="2381250" cy="33337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5C6370"/>
                </a:solidFill>
                <a:latin typeface="Helvetica Neue"/>
                <a:ea typeface="Helvetica Neue"/>
                <a:cs typeface="Helvetica Neue"/>
              </a:defRPr>
            </a:pPr>
            <a:r>
              <a:t>Step 0</a:t>
            </a:r>
          </a:p>
        </p:txBody>
      </p:sp>
      <p:sp>
        <p:nvSpPr>
          <p:cNvPr id="13" name="">
            <a:extLst xmlns:a="http://schemas.openxmlformats.org/drawingml/2006/main">
              <a:ext uri="{FF2B5EF4-FFF2-40B4-BE49-F238E27FC236}">
                <a16:creationId xmlns:a16="http://schemas.microsoft.com/office/drawing/2014/main" id="{6202CE24-96AA-4DAD-9CE0-54D3355403BB}"/>
              </a:ext>
            </a:extLst>
          </p:cNvPr>
          <p:cNvSpPr>
            <a:spLocks xmlns:a="http://schemas.openxmlformats.org/drawingml/2006/main" noGrp="1"/>
          </p:cNvSpPr>
          <p:nvPr/>
        </p:nvSpPr>
        <p:spPr>
          <a:xfrm xmlns:a="http://schemas.openxmlformats.org/drawingml/2006/main">
            <a:off x="4524375" y="3762375"/>
            <a:ext cx="4000500" cy="666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950" b="1">
                <a:solidFill>
                  <a:srgbClr val="000000"/>
                </a:solidFill>
                <a:latin typeface="Helvetica Neue"/>
                <a:ea typeface="Helvetica Neue"/>
                <a:cs typeface="Helvetica Neue"/>
              </a:defRPr>
            </a:pPr>
            <a:r>
              <a:t>Group Relative Policy Optimization (GRPO)</a:t>
            </a:r>
          </a:p>
        </p:txBody>
      </p:sp>
      <p:sp>
        <p:nvSpPr>
          <p:cNvPr id="14" name="">
            <a:extLst xmlns:a="http://schemas.openxmlformats.org/drawingml/2006/main">
              <a:ext uri="{FF2B5EF4-FFF2-40B4-BE49-F238E27FC236}">
                <a16:creationId xmlns:a16="http://schemas.microsoft.com/office/drawing/2014/main" id="{26F57A79-61E6-4FC3-9A96-D7ACA25DD1F0}"/>
              </a:ext>
            </a:extLst>
          </p:cNvPr>
          <p:cNvSpPr>
            <a:spLocks xmlns:a="http://schemas.openxmlformats.org/drawingml/2006/main" noGrp="1"/>
          </p:cNvSpPr>
          <p:nvPr/>
        </p:nvSpPr>
        <p:spPr>
          <a:xfrm xmlns:a="http://schemas.openxmlformats.org/drawingml/2006/main">
            <a:off x="4524375" y="4572000"/>
            <a:ext cx="4000500" cy="571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0">
                <a:solidFill>
                  <a:srgbClr val="5C6370"/>
                </a:solidFill>
                <a:latin typeface="Helvetica Neue"/>
                <a:ea typeface="Helvetica Neue"/>
                <a:cs typeface="Helvetica Neue"/>
              </a:defRPr>
            </a:pPr>
            <a:r>
              <a:t>11 public checkpoints from step 40 to 2,440</a:t>
            </a:r>
          </a:p>
        </p:txBody>
      </p:sp>
      <p:sp>
        <p:nvSpPr>
          <p:cNvPr id="15" name="">
            <a:extLst xmlns:a="http://schemas.openxmlformats.org/drawingml/2006/main">
              <a:ext uri="{FF2B5EF4-FFF2-40B4-BE49-F238E27FC236}">
                <a16:creationId xmlns:a16="http://schemas.microsoft.com/office/drawing/2014/main" id="{610B499F-A524-4EDE-A73E-7BF6D2D74330}"/>
              </a:ext>
            </a:extLst>
          </p:cNvPr>
          <p:cNvSpPr>
            <a:spLocks xmlns:a="http://schemas.openxmlformats.org/drawingml/2006/main" noGrp="1"/>
          </p:cNvSpPr>
          <p:nvPr/>
        </p:nvSpPr>
        <p:spPr>
          <a:xfrm xmlns:a="http://schemas.openxmlformats.org/drawingml/2006/main">
            <a:off x="8629650" y="3762375"/>
            <a:ext cx="2857500" cy="666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950" b="1">
                <a:solidFill>
                  <a:srgbClr val="000000"/>
                </a:solidFill>
                <a:latin typeface="Helvetica Neue"/>
                <a:ea typeface="Helvetica Neue"/>
                <a:cs typeface="Helvetica Neue"/>
              </a:defRPr>
            </a:pPr>
            <a:r>
              <a:t>6,912 structured responses</a:t>
            </a:r>
          </a:p>
        </p:txBody>
      </p:sp>
      <p:sp>
        <p:nvSpPr>
          <p:cNvPr id="16" name="">
            <a:extLst xmlns:a="http://schemas.openxmlformats.org/drawingml/2006/main">
              <a:ext uri="{FF2B5EF4-FFF2-40B4-BE49-F238E27FC236}">
                <a16:creationId xmlns:a16="http://schemas.microsoft.com/office/drawing/2014/main" id="{D5604E99-46CC-4D7B-ACF3-FCF5C0E46CA4}"/>
              </a:ext>
            </a:extLst>
          </p:cNvPr>
          <p:cNvSpPr>
            <a:spLocks xmlns:a="http://schemas.openxmlformats.org/drawingml/2006/main" noGrp="1"/>
          </p:cNvSpPr>
          <p:nvPr/>
        </p:nvSpPr>
        <p:spPr>
          <a:xfrm xmlns:a="http://schemas.openxmlformats.org/drawingml/2006/main">
            <a:off x="8629650" y="4572000"/>
            <a:ext cx="2857500" cy="571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650" b="0">
                <a:solidFill>
                  <a:srgbClr val="5C6370"/>
                </a:solidFill>
                <a:latin typeface="Helvetica Neue"/>
                <a:ea typeface="Helvetica Neue"/>
                <a:cs typeface="Helvetica Neue"/>
              </a:defRPr>
            </a:pPr>
            <a:r>
              <a:t>plus capability and open-ended checks</a:t>
            </a:r>
          </a:p>
        </p:txBody>
      </p:sp>
      <p:sp>
        <p:nvSpPr>
          <p:cNvPr id="17" name="">
            <a:extLst xmlns:a="http://schemas.openxmlformats.org/drawingml/2006/main">
              <a:ext uri="{FF2B5EF4-FFF2-40B4-BE49-F238E27FC236}">
                <a16:creationId xmlns:a16="http://schemas.microsoft.com/office/drawing/2014/main" id="{3B426D7A-F0F6-49F1-9828-8689D6114CFB}"/>
              </a:ext>
            </a:extLst>
          </p:cNvPr>
          <p:cNvSpPr>
            <a:spLocks xmlns:a="http://schemas.openxmlformats.org/drawingml/2006/main" noGrp="1"/>
          </p:cNvSpPr>
          <p:nvPr/>
        </p:nvSpPr>
        <p:spPr>
          <a:xfrm xmlns:a="http://schemas.openxmlformats.org/drawingml/2006/main">
            <a:off x="1714500" y="5715000"/>
            <a:ext cx="876300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0">
                <a:solidFill>
                  <a:srgbClr val="5C6370"/>
                </a:solidFill>
                <a:latin typeface="Helvetica Neue"/>
                <a:ea typeface="Helvetica Neue"/>
                <a:cs typeface="Helvetica Neue"/>
              </a:defRPr>
            </a:pPr>
            <a:r>
              <a:t>Fixed throughout: prompts • parser • deterministic decoding • token limit • software versions</a:t>
            </a:r>
          </a:p>
        </p:txBody>
      </p:sp>
    </p:spTree>
    <p:extLst>
      <p:ext uri="{BB962C8B-B14F-4D97-AF65-F5344CB8AC3E}">
        <p14:creationId xmlns:p14="http://schemas.microsoft.com/office/powerpoint/2010/main" val="129530204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4A36BBF1-6B43-43F8-945C-26CE662DCA62}"/>
              </a:ext>
            </a:extLst>
          </p:cNvPr>
          <p:cNvSpPr>
            <a:spLocks xmlns:a="http://schemas.openxmlformats.org/drawingml/2006/main" noGrp="1"/>
          </p:cNvSpPr>
          <p:nvPr/>
        </p:nvSpPr>
        <p:spPr>
          <a:xfrm xmlns:a="http://schemas.openxmlformats.org/drawingml/2006/main">
            <a:off x="400050" y="323850"/>
            <a:ext cx="11391900" cy="876300"/>
          </a:xfrm>
          <a:prstGeom xmlns:a="http://schemas.openxmlformats.org/drawingml/2006/main" prst="rect">
            <a:avLst/>
          </a:prstGeom>
        </p:spPr>
        <p:txBody>
          <a:bodyPr xmlns:a="http://schemas.openxmlformats.org/drawingml/2006/main" wrap="square" lIns="0" tIns="0" rIns="0" bIns="0" anchor="t">
            <a:normAutofit fontScale="95833"/>
          </a:bodyPr>
          <a:lstStyle xmlns:a="http://schemas.openxmlformats.org/drawingml/2006/main"/>
          <a:p xmlns:a="http://schemas.openxmlformats.org/drawingml/2006/main">
            <a:pPr algn="l">
              <a:defRPr sz="3000" b="0">
                <a:solidFill>
                  <a:srgbClr val="000000"/>
                </a:solidFill>
                <a:latin typeface="Helvetica Neue"/>
                <a:ea typeface="Helvetica Neue"/>
                <a:cs typeface="Helvetica Neue"/>
              </a:defRPr>
            </a:pPr>
            <a:r>
              <a:t>We decided what each result would mean before looking at the trajectory</a:t>
            </a:r>
          </a:p>
        </p:txBody>
      </p:sp>
      <p:sp>
        <p:nvSpPr>
          <p:cNvPr id="2" name="page-number">
            <a:extLst xmlns:a="http://schemas.openxmlformats.org/drawingml/2006/main">
              <a:ext uri="{FF2B5EF4-FFF2-40B4-BE49-F238E27FC236}">
                <a16:creationId xmlns:a16="http://schemas.microsoft.com/office/drawing/2014/main" id="{3A063207-E33B-48CA-86FC-53AF923424B8}"/>
              </a:ext>
            </a:extLst>
          </p:cNvPr>
          <p:cNvSpPr>
            <a:spLocks xmlns:a="http://schemas.openxmlformats.org/drawingml/2006/main" noGrp="1"/>
          </p:cNvSpPr>
          <p:nvPr/>
        </p:nvSpPr>
        <p:spPr>
          <a:xfrm xmlns:a="http://schemas.openxmlformats.org/drawingml/2006/main">
            <a:off x="11277600" y="6286500"/>
            <a:ext cx="5143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0">
                <a:solidFill>
                  <a:srgbClr val="5C6370"/>
                </a:solidFill>
                <a:latin typeface="Helvetica Neue"/>
                <a:ea typeface="Helvetica Neue"/>
                <a:cs typeface="Helvetica Neue"/>
              </a:defRPr>
            </a:pPr>
            <a:r>
              <a:t>7</a:t>
            </a:r>
          </a:p>
        </p:txBody>
      </p:sp>
      <p:sp>
        <p:nvSpPr>
          <p:cNvPr id="3" name="source-note">
            <a:extLst xmlns:a="http://schemas.openxmlformats.org/drawingml/2006/main">
              <a:ext uri="{FF2B5EF4-FFF2-40B4-BE49-F238E27FC236}">
                <a16:creationId xmlns:a16="http://schemas.microsoft.com/office/drawing/2014/main" id="{C8D70BC2-A982-4074-BBDE-AA71CD3D1904}"/>
              </a:ext>
            </a:extLst>
          </p:cNvPr>
          <p:cNvSpPr>
            <a:spLocks xmlns:a="http://schemas.openxmlformats.org/drawingml/2006/main" noGrp="1"/>
          </p:cNvSpPr>
          <p:nvPr/>
        </p:nvSpPr>
        <p:spPr>
          <a:xfrm xmlns:a="http://schemas.openxmlformats.org/drawingml/2006/main">
            <a:off x="400050" y="6334125"/>
            <a:ext cx="1009650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C6370"/>
                </a:solidFill>
                <a:latin typeface="Helvetica Neue"/>
                <a:ea typeface="Helvetica Neue"/>
                <a:cs typeface="Helvetica Neue"/>
              </a:defRPr>
            </a:pPr>
            <a:r>
              <a:t>Source: configs/anchors/tulu_cross_format_anchors_v1.json</a:t>
            </a:r>
          </a:p>
        </p:txBody>
      </p:sp>
      <p:sp>
        <p:nvSpPr>
          <p:cNvPr id="4" name="">
            <a:extLst xmlns:a="http://schemas.openxmlformats.org/drawingml/2006/main">
              <a:ext uri="{FF2B5EF4-FFF2-40B4-BE49-F238E27FC236}">
                <a16:creationId xmlns:a16="http://schemas.microsoft.com/office/drawing/2014/main" id="{1F69BF68-82EB-4F70-9947-11FF0D45A941}"/>
              </a:ext>
            </a:extLst>
          </p:cNvPr>
          <p:cNvSpPr>
            <a:spLocks xmlns:a="http://schemas.openxmlformats.org/drawingml/2006/main" noGrp="1"/>
          </p:cNvSpPr>
          <p:nvPr/>
        </p:nvSpPr>
        <p:spPr>
          <a:xfrm xmlns:a="http://schemas.openxmlformats.org/drawingml/2006/main">
            <a:off x="400050" y="1571625"/>
            <a:ext cx="3562350" cy="3714750"/>
          </a:xfrm>
          <a:prstGeom xmlns:a="http://schemas.openxmlformats.org/drawingml/2006/main" prst="roundRect">
            <a:avLst>
              <a:gd name="adj" fmla="val 2139"/>
            </a:avLst>
          </a:prstGeom>
          <a:solidFill xmlns:a="http://schemas.openxmlformats.org/drawingml/2006/main">
            <a:srgbClr val="F2F2F2"/>
          </a:solidFill>
          <a:ln xmlns:a="http://schemas.openxmlformats.org/drawingml/2006/main" w="0">
            <a:solidFill>
              <a:srgbClr val="F2F2F2"/>
            </a:solidFill>
            <a:prstDash val="solid"/>
          </a:ln>
        </p:spPr>
      </p:sp>
      <p:sp>
        <p:nvSpPr>
          <p:cNvPr id="5" name="">
            <a:extLst xmlns:a="http://schemas.openxmlformats.org/drawingml/2006/main">
              <a:ext uri="{FF2B5EF4-FFF2-40B4-BE49-F238E27FC236}">
                <a16:creationId xmlns:a16="http://schemas.microsoft.com/office/drawing/2014/main" id="{65554CC5-1144-4200-AFB3-BC04242D49E4}"/>
              </a:ext>
            </a:extLst>
          </p:cNvPr>
          <p:cNvSpPr>
            <a:spLocks xmlns:a="http://schemas.openxmlformats.org/drawingml/2006/main" noGrp="1"/>
          </p:cNvSpPr>
          <p:nvPr/>
        </p:nvSpPr>
        <p:spPr>
          <a:xfrm xmlns:a="http://schemas.openxmlformats.org/drawingml/2006/main">
            <a:off x="4314825" y="1571625"/>
            <a:ext cx="3562350" cy="3714750"/>
          </a:xfrm>
          <a:prstGeom xmlns:a="http://schemas.openxmlformats.org/drawingml/2006/main" prst="roundRect">
            <a:avLst>
              <a:gd name="adj" fmla="val 2139"/>
            </a:avLst>
          </a:prstGeom>
          <a:solidFill xmlns:a="http://schemas.openxmlformats.org/drawingml/2006/main">
            <a:srgbClr val="E9F6FC"/>
          </a:solidFill>
          <a:ln xmlns:a="http://schemas.openxmlformats.org/drawingml/2006/main" w="0">
            <a:solidFill>
              <a:srgbClr val="E9F6FC"/>
            </a:solidFill>
            <a:prstDash val="solid"/>
          </a:ln>
        </p:spPr>
      </p:sp>
      <p:sp>
        <p:nvSpPr>
          <p:cNvPr id="6" name="">
            <a:extLst xmlns:a="http://schemas.openxmlformats.org/drawingml/2006/main">
              <a:ext uri="{FF2B5EF4-FFF2-40B4-BE49-F238E27FC236}">
                <a16:creationId xmlns:a16="http://schemas.microsoft.com/office/drawing/2014/main" id="{ED230810-FC01-4F50-8C84-9E46144229DC}"/>
              </a:ext>
            </a:extLst>
          </p:cNvPr>
          <p:cNvSpPr>
            <a:spLocks xmlns:a="http://schemas.openxmlformats.org/drawingml/2006/main" noGrp="1"/>
          </p:cNvSpPr>
          <p:nvPr/>
        </p:nvSpPr>
        <p:spPr>
          <a:xfrm xmlns:a="http://schemas.openxmlformats.org/drawingml/2006/main">
            <a:off x="8229600" y="1571625"/>
            <a:ext cx="3562350" cy="3714750"/>
          </a:xfrm>
          <a:prstGeom xmlns:a="http://schemas.openxmlformats.org/drawingml/2006/main" prst="roundRect">
            <a:avLst>
              <a:gd name="adj" fmla="val 2139"/>
            </a:avLst>
          </a:prstGeom>
          <a:solidFill xmlns:a="http://schemas.openxmlformats.org/drawingml/2006/main">
            <a:srgbClr val="F2F2F2"/>
          </a:solidFill>
          <a:ln xmlns:a="http://schemas.openxmlformats.org/drawingml/2006/main" w="0">
            <a:solidFill>
              <a:srgbClr val="F2F2F2"/>
            </a:solidFill>
            <a:prstDash val="solid"/>
          </a:ln>
        </p:spPr>
      </p:sp>
      <p:sp>
        <p:nvSpPr>
          <p:cNvPr id="7" name="">
            <a:extLst xmlns:a="http://schemas.openxmlformats.org/drawingml/2006/main">
              <a:ext uri="{FF2B5EF4-FFF2-40B4-BE49-F238E27FC236}">
                <a16:creationId xmlns:a16="http://schemas.microsoft.com/office/drawing/2014/main" id="{3DDAFB6D-7533-4549-B5DE-D79366D743D4}"/>
              </a:ext>
            </a:extLst>
          </p:cNvPr>
          <p:cNvSpPr>
            <a:spLocks xmlns:a="http://schemas.openxmlformats.org/drawingml/2006/main" noGrp="1"/>
          </p:cNvSpPr>
          <p:nvPr/>
        </p:nvSpPr>
        <p:spPr>
          <a:xfrm xmlns:a="http://schemas.openxmlformats.org/drawingml/2006/main">
            <a:off x="704850" y="1952625"/>
            <a:ext cx="2857500" cy="33337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5C6370"/>
                </a:solidFill>
                <a:latin typeface="Helvetica Neue"/>
                <a:ea typeface="Helvetica Neue"/>
                <a:cs typeface="Helvetica Neue"/>
              </a:defRPr>
            </a:pPr>
            <a:r>
              <a:t>SAFETY DRIFT</a:t>
            </a:r>
          </a:p>
        </p:txBody>
      </p:sp>
      <p:sp>
        <p:nvSpPr>
          <p:cNvPr id="8" name="">
            <a:extLst xmlns:a="http://schemas.openxmlformats.org/drawingml/2006/main">
              <a:ext uri="{FF2B5EF4-FFF2-40B4-BE49-F238E27FC236}">
                <a16:creationId xmlns:a16="http://schemas.microsoft.com/office/drawing/2014/main" id="{190B8BB7-EFF0-4F43-BCE7-123DCB95A75B}"/>
              </a:ext>
            </a:extLst>
          </p:cNvPr>
          <p:cNvSpPr>
            <a:spLocks xmlns:a="http://schemas.openxmlformats.org/drawingml/2006/main" noGrp="1"/>
          </p:cNvSpPr>
          <p:nvPr/>
        </p:nvSpPr>
        <p:spPr>
          <a:xfrm xmlns:a="http://schemas.openxmlformats.org/drawingml/2006/main">
            <a:off x="704850" y="2571750"/>
            <a:ext cx="2857500" cy="666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1">
                <a:solidFill>
                  <a:srgbClr val="000000"/>
                </a:solidFill>
                <a:latin typeface="Helvetica Neue"/>
                <a:ea typeface="Helvetica Neue"/>
                <a:cs typeface="Helvetica Neue"/>
              </a:defRPr>
            </a:pPr>
            <a:r>
              <a:t>Behavior moves by at least 0.10</a:t>
            </a:r>
          </a:p>
        </p:txBody>
      </p:sp>
      <p:sp>
        <p:nvSpPr>
          <p:cNvPr id="9" name="">
            <a:extLst xmlns:a="http://schemas.openxmlformats.org/drawingml/2006/main">
              <a:ext uri="{FF2B5EF4-FFF2-40B4-BE49-F238E27FC236}">
                <a16:creationId xmlns:a16="http://schemas.microsoft.com/office/drawing/2014/main" id="{73D34923-A622-46FA-9DFC-06D9C34BF8B2}"/>
              </a:ext>
            </a:extLst>
          </p:cNvPr>
          <p:cNvSpPr>
            <a:spLocks xmlns:a="http://schemas.openxmlformats.org/drawingml/2006/main" noGrp="1"/>
          </p:cNvSpPr>
          <p:nvPr/>
        </p:nvSpPr>
        <p:spPr>
          <a:xfrm xmlns:a="http://schemas.openxmlformats.org/drawingml/2006/main">
            <a:off x="704850" y="3571875"/>
            <a:ext cx="2857500" cy="128587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t>It must persist at neighboring planned checkpoints and appear in the same direction without answer choices.</a:t>
            </a:r>
          </a:p>
        </p:txBody>
      </p:sp>
      <p:sp>
        <p:nvSpPr>
          <p:cNvPr id="10" name="">
            <a:extLst xmlns:a="http://schemas.openxmlformats.org/drawingml/2006/main">
              <a:ext uri="{FF2B5EF4-FFF2-40B4-BE49-F238E27FC236}">
                <a16:creationId xmlns:a16="http://schemas.microsoft.com/office/drawing/2014/main" id="{6896E3B9-BE2D-4B73-95AA-0574A37C66C1}"/>
              </a:ext>
            </a:extLst>
          </p:cNvPr>
          <p:cNvSpPr>
            <a:spLocks xmlns:a="http://schemas.openxmlformats.org/drawingml/2006/main" noGrp="1"/>
          </p:cNvSpPr>
          <p:nvPr/>
        </p:nvSpPr>
        <p:spPr>
          <a:xfrm xmlns:a="http://schemas.openxmlformats.org/drawingml/2006/main">
            <a:off x="4619625" y="1952625"/>
            <a:ext cx="2857500" cy="33337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3D8DFF"/>
                </a:solidFill>
                <a:latin typeface="Helvetica Neue"/>
                <a:ea typeface="Helvetica Neue"/>
                <a:cs typeface="Helvetica Neue"/>
              </a:defRPr>
            </a:pPr>
            <a:r>
              <a:t>MEASUREMENT DRIFT</a:t>
            </a:r>
          </a:p>
        </p:txBody>
      </p:sp>
      <p:sp>
        <p:nvSpPr>
          <p:cNvPr id="11" name="">
            <a:extLst xmlns:a="http://schemas.openxmlformats.org/drawingml/2006/main">
              <a:ext uri="{FF2B5EF4-FFF2-40B4-BE49-F238E27FC236}">
                <a16:creationId xmlns:a16="http://schemas.microsoft.com/office/drawing/2014/main" id="{09B0C5E3-3D8D-4C87-BDDA-4D5D0318FF72}"/>
              </a:ext>
            </a:extLst>
          </p:cNvPr>
          <p:cNvSpPr>
            <a:spLocks xmlns:a="http://schemas.openxmlformats.org/drawingml/2006/main" noGrp="1"/>
          </p:cNvSpPr>
          <p:nvPr/>
        </p:nvSpPr>
        <p:spPr>
          <a:xfrm xmlns:a="http://schemas.openxmlformats.org/drawingml/2006/main">
            <a:off x="4619625" y="2571750"/>
            <a:ext cx="2857500" cy="666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1">
                <a:solidFill>
                  <a:srgbClr val="000000"/>
                </a:solidFill>
                <a:latin typeface="Helvetica Neue"/>
                <a:ea typeface="Helvetica Neue"/>
                <a:cs typeface="Helvetica Neue"/>
              </a:defRPr>
            </a:pPr>
            <a:r>
              <a:t>The test becomes less stable</a:t>
            </a:r>
          </a:p>
        </p:txBody>
      </p:sp>
      <p:sp>
        <p:nvSpPr>
          <p:cNvPr id="12" name="">
            <a:extLst xmlns:a="http://schemas.openxmlformats.org/drawingml/2006/main">
              <a:ext uri="{FF2B5EF4-FFF2-40B4-BE49-F238E27FC236}">
                <a16:creationId xmlns:a16="http://schemas.microsoft.com/office/drawing/2014/main" id="{8E848731-ECFB-415C-807F-290797FC8606}"/>
              </a:ext>
            </a:extLst>
          </p:cNvPr>
          <p:cNvSpPr>
            <a:spLocks xmlns:a="http://schemas.openxmlformats.org/drawingml/2006/main" noGrp="1"/>
          </p:cNvSpPr>
          <p:nvPr/>
        </p:nvSpPr>
        <p:spPr>
          <a:xfrm xmlns:a="http://schemas.openxmlformats.org/drawingml/2006/main">
            <a:off x="4619625" y="3571875"/>
            <a:ext cx="2857500" cy="128587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t>Wording or answer order matters more while the averaged behavioral change stays below 0.10.</a:t>
            </a:r>
          </a:p>
        </p:txBody>
      </p:sp>
      <p:sp>
        <p:nvSpPr>
          <p:cNvPr id="13" name="">
            <a:extLst xmlns:a="http://schemas.openxmlformats.org/drawingml/2006/main">
              <a:ext uri="{FF2B5EF4-FFF2-40B4-BE49-F238E27FC236}">
                <a16:creationId xmlns:a16="http://schemas.microsoft.com/office/drawing/2014/main" id="{26E51A06-051A-4A32-B406-00423D86484C}"/>
              </a:ext>
            </a:extLst>
          </p:cNvPr>
          <p:cNvSpPr>
            <a:spLocks xmlns:a="http://schemas.openxmlformats.org/drawingml/2006/main" noGrp="1"/>
          </p:cNvSpPr>
          <p:nvPr/>
        </p:nvSpPr>
        <p:spPr>
          <a:xfrm xmlns:a="http://schemas.openxmlformats.org/drawingml/2006/main">
            <a:off x="8534400" y="1952625"/>
            <a:ext cx="2857500" cy="33337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5C6370"/>
                </a:solidFill>
                <a:latin typeface="Helvetica Neue"/>
                <a:ea typeface="Helvetica Neue"/>
                <a:cs typeface="Helvetica Neue"/>
              </a:defRPr>
            </a:pPr>
            <a:r>
              <a:t>INCONCLUSIVE</a:t>
            </a:r>
          </a:p>
        </p:txBody>
      </p:sp>
      <p:sp>
        <p:nvSpPr>
          <p:cNvPr id="14" name="">
            <a:extLst xmlns:a="http://schemas.openxmlformats.org/drawingml/2006/main">
              <a:ext uri="{FF2B5EF4-FFF2-40B4-BE49-F238E27FC236}">
                <a16:creationId xmlns:a16="http://schemas.microsoft.com/office/drawing/2014/main" id="{F1762CAC-E7A8-4173-AF59-B7691FD95F65}"/>
              </a:ext>
            </a:extLst>
          </p:cNvPr>
          <p:cNvSpPr>
            <a:spLocks xmlns:a="http://schemas.openxmlformats.org/drawingml/2006/main" noGrp="1"/>
          </p:cNvSpPr>
          <p:nvPr/>
        </p:nvSpPr>
        <p:spPr>
          <a:xfrm xmlns:a="http://schemas.openxmlformats.org/drawingml/2006/main">
            <a:off x="8534400" y="2571750"/>
            <a:ext cx="2857500" cy="666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1">
                <a:solidFill>
                  <a:srgbClr val="000000"/>
                </a:solidFill>
                <a:latin typeface="Helvetica Neue"/>
                <a:ea typeface="Helvetica Neue"/>
                <a:cs typeface="Helvetica Neue"/>
              </a:defRPr>
            </a:pPr>
            <a:r>
              <a:t>The evidence is too uncertain</a:t>
            </a:r>
          </a:p>
        </p:txBody>
      </p:sp>
      <p:sp>
        <p:nvSpPr>
          <p:cNvPr id="15" name="">
            <a:extLst xmlns:a="http://schemas.openxmlformats.org/drawingml/2006/main">
              <a:ext uri="{FF2B5EF4-FFF2-40B4-BE49-F238E27FC236}">
                <a16:creationId xmlns:a16="http://schemas.microsoft.com/office/drawing/2014/main" id="{E4E5466D-31FC-4D2F-A4FD-45B1678976B7}"/>
              </a:ext>
            </a:extLst>
          </p:cNvPr>
          <p:cNvSpPr>
            <a:spLocks xmlns:a="http://schemas.openxmlformats.org/drawingml/2006/main" noGrp="1"/>
          </p:cNvSpPr>
          <p:nvPr/>
        </p:nvSpPr>
        <p:spPr>
          <a:xfrm xmlns:a="http://schemas.openxmlformats.org/drawingml/2006/main">
            <a:off x="8534400" y="3571875"/>
            <a:ext cx="2857500" cy="128587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t>Missing data, weak reviewer agreement, poor judgeability, or wide intervals prevent a strong label.</a:t>
            </a:r>
          </a:p>
        </p:txBody>
      </p:sp>
    </p:spTree>
    <p:extLst>
      <p:ext uri="{BB962C8B-B14F-4D97-AF65-F5344CB8AC3E}">
        <p14:creationId xmlns:p14="http://schemas.microsoft.com/office/powerpoint/2010/main" val="194424445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27695CDE-9809-4738-9257-E5109D3C6DB8}"/>
              </a:ext>
            </a:extLst>
          </p:cNvPr>
          <p:cNvSpPr>
            <a:spLocks xmlns:a="http://schemas.openxmlformats.org/drawingml/2006/main" noGrp="1"/>
          </p:cNvSpPr>
          <p:nvPr/>
        </p:nvSpPr>
        <p:spPr>
          <a:xfrm xmlns:a="http://schemas.openxmlformats.org/drawingml/2006/main">
            <a:off x="400050" y="323850"/>
            <a:ext cx="11391900" cy="8763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0">
                <a:solidFill>
                  <a:srgbClr val="000000"/>
                </a:solidFill>
                <a:latin typeface="Helvetica Neue"/>
                <a:ea typeface="Helvetica Neue"/>
                <a:cs typeface="Helvetica Neue"/>
              </a:defRPr>
            </a:pPr>
            <a:r>
              <a:t>Average risky behavior stayed inside the practical change band</a:t>
            </a:r>
          </a:p>
        </p:txBody>
      </p:sp>
      <p:sp>
        <p:nvSpPr>
          <p:cNvPr id="2" name="page-number">
            <a:extLst xmlns:a="http://schemas.openxmlformats.org/drawingml/2006/main">
              <a:ext uri="{FF2B5EF4-FFF2-40B4-BE49-F238E27FC236}">
                <a16:creationId xmlns:a16="http://schemas.microsoft.com/office/drawing/2014/main" id="{E3B38019-0567-489B-9275-9478CAD6763D}"/>
              </a:ext>
            </a:extLst>
          </p:cNvPr>
          <p:cNvSpPr>
            <a:spLocks xmlns:a="http://schemas.openxmlformats.org/drawingml/2006/main" noGrp="1"/>
          </p:cNvSpPr>
          <p:nvPr/>
        </p:nvSpPr>
        <p:spPr>
          <a:xfrm xmlns:a="http://schemas.openxmlformats.org/drawingml/2006/main">
            <a:off x="11277600" y="6286500"/>
            <a:ext cx="5143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0">
                <a:solidFill>
                  <a:srgbClr val="5C6370"/>
                </a:solidFill>
                <a:latin typeface="Helvetica Neue"/>
                <a:ea typeface="Helvetica Neue"/>
                <a:cs typeface="Helvetica Neue"/>
              </a:defRPr>
            </a:pPr>
            <a:r>
              <a:t>8</a:t>
            </a:r>
          </a:p>
        </p:txBody>
      </p:sp>
      <p:sp>
        <p:nvSpPr>
          <p:cNvPr id="3" name="source-note">
            <a:extLst xmlns:a="http://schemas.openxmlformats.org/drawingml/2006/main">
              <a:ext uri="{FF2B5EF4-FFF2-40B4-BE49-F238E27FC236}">
                <a16:creationId xmlns:a16="http://schemas.microsoft.com/office/drawing/2014/main" id="{0DF0058F-0487-4BC4-AF4E-4CDA8584AFAD}"/>
              </a:ext>
            </a:extLst>
          </p:cNvPr>
          <p:cNvSpPr>
            <a:spLocks xmlns:a="http://schemas.openxmlformats.org/drawingml/2006/main" noGrp="1"/>
          </p:cNvSpPr>
          <p:nvPr/>
        </p:nvSpPr>
        <p:spPr>
          <a:xfrm xmlns:a="http://schemas.openxmlformats.org/drawingml/2006/main">
            <a:off x="400050" y="6334125"/>
            <a:ext cx="1009650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C6370"/>
                </a:solidFill>
                <a:latin typeface="Helvetica Neue"/>
                <a:ea typeface="Helvetica Neue"/>
                <a:cs typeface="Helvetica Neue"/>
              </a:defRPr>
            </a:pPr>
            <a:r>
              <a:t>Source: reports/tulu_structured_trajectory_v1.md</a:t>
            </a:r>
          </a:p>
        </p:txBody>
      </p:sp>
      <p:sp>
        <p:nvSpPr>
          <p:cNvPr id="4" name="">
            <a:extLst xmlns:a="http://schemas.openxmlformats.org/drawingml/2006/main">
              <a:ext uri="{FF2B5EF4-FFF2-40B4-BE49-F238E27FC236}">
                <a16:creationId xmlns:a16="http://schemas.microsoft.com/office/drawing/2014/main" id="{5250747E-AFF4-42F8-A939-E64CA2395F06}"/>
              </a:ext>
            </a:extLst>
          </p:cNvPr>
          <p:cNvSpPr>
            <a:spLocks xmlns:a="http://schemas.openxmlformats.org/drawingml/2006/main" noGrp="1"/>
          </p:cNvSpPr>
          <p:nvPr/>
        </p:nvSpPr>
        <p:spPr>
          <a:xfrm xmlns:a="http://schemas.openxmlformats.org/drawingml/2006/main">
            <a:off x="6667500" y="1524000"/>
            <a:ext cx="4762500" cy="857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000000"/>
                </a:solidFill>
                <a:latin typeface="Helvetica Neue"/>
                <a:ea typeface="Helvetica Neue"/>
                <a:cs typeface="Helvetica Neue"/>
              </a:defRPr>
            </a:pPr>
            <a:r>
              <a:t>The main safety score changed less than the predeclared ±0.10 amount at every checkpoint.</a:t>
            </a:r>
          </a:p>
        </p:txBody>
      </p:sp>
      <p:sp>
        <p:nvSpPr>
          <p:cNvPr id="5" name="">
            <a:extLst xmlns:a="http://schemas.openxmlformats.org/drawingml/2006/main">
              <a:ext uri="{FF2B5EF4-FFF2-40B4-BE49-F238E27FC236}">
                <a16:creationId xmlns:a16="http://schemas.microsoft.com/office/drawing/2014/main" id="{FE7ABA15-9C80-4EE2-BD37-754A5236C294}"/>
              </a:ext>
            </a:extLst>
          </p:cNvPr>
          <p:cNvSpPr>
            <a:spLocks xmlns:a="http://schemas.openxmlformats.org/drawingml/2006/main" noGrp="1"/>
          </p:cNvSpPr>
          <p:nvPr/>
        </p:nvSpPr>
        <p:spPr>
          <a:xfrm xmlns:a="http://schemas.openxmlformats.org/drawingml/2006/main">
            <a:off x="6667500" y="2971800"/>
            <a:ext cx="2238375" cy="2286000"/>
          </a:xfrm>
          <a:prstGeom xmlns:a="http://schemas.openxmlformats.org/drawingml/2006/main" prst="roundRect">
            <a:avLst>
              <a:gd name="adj" fmla="val 3404"/>
            </a:avLst>
          </a:prstGeom>
          <a:solidFill xmlns:a="http://schemas.openxmlformats.org/drawingml/2006/main">
            <a:srgbClr val="F2F2F2"/>
          </a:solidFill>
          <a:ln xmlns:a="http://schemas.openxmlformats.org/drawingml/2006/main" w="0">
            <a:solidFill>
              <a:srgbClr val="F2F2F2"/>
            </a:solidFill>
            <a:prstDash val="solid"/>
          </a:ln>
        </p:spPr>
      </p:sp>
      <p:sp>
        <p:nvSpPr>
          <p:cNvPr id="6" name="">
            <a:extLst xmlns:a="http://schemas.openxmlformats.org/drawingml/2006/main">
              <a:ext uri="{FF2B5EF4-FFF2-40B4-BE49-F238E27FC236}">
                <a16:creationId xmlns:a16="http://schemas.microsoft.com/office/drawing/2014/main" id="{8CF99263-4886-4ADF-8424-160EF1F3CE77}"/>
              </a:ext>
            </a:extLst>
          </p:cNvPr>
          <p:cNvSpPr>
            <a:spLocks xmlns:a="http://schemas.openxmlformats.org/drawingml/2006/main" noGrp="1"/>
          </p:cNvSpPr>
          <p:nvPr/>
        </p:nvSpPr>
        <p:spPr>
          <a:xfrm xmlns:a="http://schemas.openxmlformats.org/drawingml/2006/main">
            <a:off x="9239250" y="2971800"/>
            <a:ext cx="2238375" cy="2286000"/>
          </a:xfrm>
          <a:prstGeom xmlns:a="http://schemas.openxmlformats.org/drawingml/2006/main" prst="roundRect">
            <a:avLst>
              <a:gd name="adj" fmla="val 3404"/>
            </a:avLst>
          </a:prstGeom>
          <a:solidFill xmlns:a="http://schemas.openxmlformats.org/drawingml/2006/main">
            <a:srgbClr val="E9F6FC"/>
          </a:solidFill>
          <a:ln xmlns:a="http://schemas.openxmlformats.org/drawingml/2006/main" w="0">
            <a:solidFill>
              <a:srgbClr val="E9F6FC"/>
            </a:solidFill>
            <a:prstDash val="solid"/>
          </a:ln>
        </p:spPr>
      </p:sp>
      <p:sp>
        <p:nvSpPr>
          <p:cNvPr id="7" name="">
            <a:extLst xmlns:a="http://schemas.openxmlformats.org/drawingml/2006/main">
              <a:ext uri="{FF2B5EF4-FFF2-40B4-BE49-F238E27FC236}">
                <a16:creationId xmlns:a16="http://schemas.microsoft.com/office/drawing/2014/main" id="{917464C6-384A-40DC-854F-C8E805D7E7C0}"/>
              </a:ext>
            </a:extLst>
          </p:cNvPr>
          <p:cNvSpPr>
            <a:spLocks xmlns:a="http://schemas.openxmlformats.org/drawingml/2006/main" noGrp="1"/>
          </p:cNvSpPr>
          <p:nvPr/>
        </p:nvSpPr>
        <p:spPr>
          <a:xfrm xmlns:a="http://schemas.openxmlformats.org/drawingml/2006/main">
            <a:off x="6953250" y="3333750"/>
            <a:ext cx="1666875" cy="857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000000"/>
                </a:solidFill>
                <a:latin typeface="Helvetica Neue"/>
                <a:ea typeface="Helvetica Neue"/>
                <a:cs typeface="Helvetica Neue"/>
              </a:defRPr>
            </a:pPr>
            <a:r>
              <a:t>0.490</a:t>
            </a:r>
          </a:p>
        </p:txBody>
      </p:sp>
      <p:sp>
        <p:nvSpPr>
          <p:cNvPr id="8" name="">
            <a:extLst xmlns:a="http://schemas.openxmlformats.org/drawingml/2006/main">
              <a:ext uri="{FF2B5EF4-FFF2-40B4-BE49-F238E27FC236}">
                <a16:creationId xmlns:a16="http://schemas.microsoft.com/office/drawing/2014/main" id="{D1D2A009-850F-4FAB-8F7D-65D6FBA3CA98}"/>
              </a:ext>
            </a:extLst>
          </p:cNvPr>
          <p:cNvSpPr>
            <a:spLocks xmlns:a="http://schemas.openxmlformats.org/drawingml/2006/main" noGrp="1"/>
          </p:cNvSpPr>
          <p:nvPr/>
        </p:nvSpPr>
        <p:spPr>
          <a:xfrm xmlns:a="http://schemas.openxmlformats.org/drawingml/2006/main">
            <a:off x="6953250" y="4476750"/>
            <a:ext cx="1666875" cy="42862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5C6370"/>
                </a:solidFill>
                <a:latin typeface="Helvetica Neue"/>
                <a:ea typeface="Helvetica Neue"/>
                <a:cs typeface="Helvetica Neue"/>
              </a:defRPr>
            </a:pPr>
            <a:r>
              <a:t>starting score</a:t>
            </a:r>
          </a:p>
        </p:txBody>
      </p:sp>
      <p:sp>
        <p:nvSpPr>
          <p:cNvPr id="9" name="">
            <a:extLst xmlns:a="http://schemas.openxmlformats.org/drawingml/2006/main">
              <a:ext uri="{FF2B5EF4-FFF2-40B4-BE49-F238E27FC236}">
                <a16:creationId xmlns:a16="http://schemas.microsoft.com/office/drawing/2014/main" id="{B5004773-15A5-432F-A88F-E003BB968837}"/>
              </a:ext>
            </a:extLst>
          </p:cNvPr>
          <p:cNvSpPr>
            <a:spLocks xmlns:a="http://schemas.openxmlformats.org/drawingml/2006/main" noGrp="1"/>
          </p:cNvSpPr>
          <p:nvPr/>
        </p:nvSpPr>
        <p:spPr>
          <a:xfrm xmlns:a="http://schemas.openxmlformats.org/drawingml/2006/main">
            <a:off x="9525000" y="3333750"/>
            <a:ext cx="1666875" cy="857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3D8DFF"/>
                </a:solidFill>
                <a:latin typeface="Helvetica Neue"/>
                <a:ea typeface="Helvetica Neue"/>
                <a:cs typeface="Helvetica Neue"/>
              </a:defRPr>
            </a:pPr>
            <a:r>
              <a:t>+0.057</a:t>
            </a:r>
          </a:p>
        </p:txBody>
      </p:sp>
      <p:sp>
        <p:nvSpPr>
          <p:cNvPr id="10" name="">
            <a:extLst xmlns:a="http://schemas.openxmlformats.org/drawingml/2006/main">
              <a:ext uri="{FF2B5EF4-FFF2-40B4-BE49-F238E27FC236}">
                <a16:creationId xmlns:a16="http://schemas.microsoft.com/office/drawing/2014/main" id="{94D5D4A9-1227-42E9-A1AD-1C590CBE60B4}"/>
              </a:ext>
            </a:extLst>
          </p:cNvPr>
          <p:cNvSpPr>
            <a:spLocks xmlns:a="http://schemas.openxmlformats.org/drawingml/2006/main" noGrp="1"/>
          </p:cNvSpPr>
          <p:nvPr/>
        </p:nvSpPr>
        <p:spPr>
          <a:xfrm xmlns:a="http://schemas.openxmlformats.org/drawingml/2006/main">
            <a:off x="9525000" y="4476750"/>
            <a:ext cx="1666875" cy="42862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5C6370"/>
                </a:solidFill>
                <a:latin typeface="Helvetica Neue"/>
                <a:ea typeface="Helvetica Neue"/>
                <a:cs typeface="Helvetica Neue"/>
              </a:defRPr>
            </a:pPr>
            <a:r>
              <a:t>largest rise</a:t>
            </a:r>
          </a:p>
        </p:txBody>
      </p:sp>
      <p:sp>
        <p:nvSpPr>
          <p:cNvPr id="11" name="">
            <a:extLst xmlns:a="http://schemas.openxmlformats.org/drawingml/2006/main">
              <a:ext uri="{FF2B5EF4-FFF2-40B4-BE49-F238E27FC236}">
                <a16:creationId xmlns:a16="http://schemas.microsoft.com/office/drawing/2014/main" id="{9EFA5E63-B5D6-4183-B21B-AA9292C4E183}"/>
              </a:ext>
            </a:extLst>
          </p:cNvPr>
          <p:cNvSpPr>
            <a:spLocks xmlns:a="http://schemas.openxmlformats.org/drawingml/2006/main" noGrp="1"/>
          </p:cNvSpPr>
          <p:nvPr/>
        </p:nvSpPr>
        <p:spPr>
          <a:xfrm xmlns:a="http://schemas.openxmlformats.org/drawingml/2006/main">
            <a:off x="6667500" y="5572125"/>
            <a:ext cx="4762500" cy="52387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5C6370"/>
                </a:solidFill>
                <a:latin typeface="Helvetica Neue"/>
                <a:ea typeface="Helvetica Neue"/>
                <a:cs typeface="Helvetica Neue"/>
              </a:defRPr>
            </a:pPr>
            <a:r>
              <a:t>One malformed row out of 6,912 remained excluded under the frozen rule.</a:t>
            </a:r>
          </a:p>
        </p:txBody>
      </p:sp>
      <p:graphicFrame>
        <p:nvGraphicFramePr>
          <p:cNvPr id="24" name="Chart"/>
          <p:cNvGraphicFramePr/>
          <p:nvPr/>
        </p:nvGraphicFramePr>
        <p:xfrm>
          <a:off xmlns:a="http://schemas.openxmlformats.org/drawingml/2006/main" x="428625" y="1381125"/>
          <a:ext xmlns:a="http://schemas.openxmlformats.org/drawingml/2006/main" cx="5810250" cy="4619625"/>
        </p:xfrm>
        <a:graphic xmlns:a="http://schemas.openxmlformats.org/drawingml/2006/main">
          <a:graphicData uri="http://schemas.openxmlformats.org/drawingml/2006/chart">
            <c:chart xmlns:r="http://schemas.openxmlformats.org/officeDocument/2006/relationships" xmlns:c="http://schemas.openxmlformats.org/drawingml/2006/chart" r:id="R8405f110c12d4dd3"/>
          </a:graphicData>
        </a:graphic>
      </p:graphicFrame>
    </p:spTree>
    <p:extLst>
      <p:ext uri="{BB962C8B-B14F-4D97-AF65-F5344CB8AC3E}">
        <p14:creationId xmlns:p14="http://schemas.microsoft.com/office/powerpoint/2010/main" val="76105245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C42D5436-088C-4336-90EC-3B4144D00204}"/>
              </a:ext>
            </a:extLst>
          </p:cNvPr>
          <p:cNvSpPr>
            <a:spLocks xmlns:a="http://schemas.openxmlformats.org/drawingml/2006/main" noGrp="1"/>
          </p:cNvSpPr>
          <p:nvPr/>
        </p:nvSpPr>
        <p:spPr>
          <a:xfrm xmlns:a="http://schemas.openxmlformats.org/drawingml/2006/main">
            <a:off x="400050" y="323850"/>
            <a:ext cx="11391900" cy="8763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0">
                <a:solidFill>
                  <a:srgbClr val="000000"/>
                </a:solidFill>
                <a:latin typeface="Helvetica Neue"/>
                <a:ea typeface="Helvetica Neue"/>
                <a:cs typeface="Helvetica Neue"/>
              </a:defRPr>
            </a:pPr>
            <a:r>
              <a:t>The test became less reliable between steps 1,920 and 2,240</a:t>
            </a:r>
          </a:p>
        </p:txBody>
      </p:sp>
      <p:sp>
        <p:nvSpPr>
          <p:cNvPr id="2" name="page-number">
            <a:extLst xmlns:a="http://schemas.openxmlformats.org/drawingml/2006/main">
              <a:ext uri="{FF2B5EF4-FFF2-40B4-BE49-F238E27FC236}">
                <a16:creationId xmlns:a16="http://schemas.microsoft.com/office/drawing/2014/main" id="{F14DA0FD-CE04-40BD-9719-48B2FDC4DC8A}"/>
              </a:ext>
            </a:extLst>
          </p:cNvPr>
          <p:cNvSpPr>
            <a:spLocks xmlns:a="http://schemas.openxmlformats.org/drawingml/2006/main" noGrp="1"/>
          </p:cNvSpPr>
          <p:nvPr/>
        </p:nvSpPr>
        <p:spPr>
          <a:xfrm xmlns:a="http://schemas.openxmlformats.org/drawingml/2006/main">
            <a:off x="11277600" y="6286500"/>
            <a:ext cx="5143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0">
                <a:solidFill>
                  <a:srgbClr val="5C6370"/>
                </a:solidFill>
                <a:latin typeface="Helvetica Neue"/>
                <a:ea typeface="Helvetica Neue"/>
                <a:cs typeface="Helvetica Neue"/>
              </a:defRPr>
            </a:pPr>
            <a:r>
              <a:t>9</a:t>
            </a:r>
          </a:p>
        </p:txBody>
      </p:sp>
      <p:sp>
        <p:nvSpPr>
          <p:cNvPr id="3" name="source-note">
            <a:extLst xmlns:a="http://schemas.openxmlformats.org/drawingml/2006/main">
              <a:ext uri="{FF2B5EF4-FFF2-40B4-BE49-F238E27FC236}">
                <a16:creationId xmlns:a16="http://schemas.microsoft.com/office/drawing/2014/main" id="{EBEAB95E-ED01-40FD-98B4-3A16BF69A92B}"/>
              </a:ext>
            </a:extLst>
          </p:cNvPr>
          <p:cNvSpPr>
            <a:spLocks xmlns:a="http://schemas.openxmlformats.org/drawingml/2006/main" noGrp="1"/>
          </p:cNvSpPr>
          <p:nvPr/>
        </p:nvSpPr>
        <p:spPr>
          <a:xfrm xmlns:a="http://schemas.openxmlformats.org/drawingml/2006/main">
            <a:off x="400050" y="6334125"/>
            <a:ext cx="1009650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C6370"/>
                </a:solidFill>
                <a:latin typeface="Helvetica Neue"/>
                <a:ea typeface="Helvetica Neue"/>
                <a:cs typeface="Helvetica Neue"/>
              </a:defRPr>
            </a:pPr>
            <a:r>
              <a:t>Source: reports/tulu_structured_trajectory_v1.md</a:t>
            </a:r>
          </a:p>
        </p:txBody>
      </p:sp>
      <p:sp>
        <p:nvSpPr>
          <p:cNvPr id="4" name="">
            <a:extLst xmlns:a="http://schemas.openxmlformats.org/drawingml/2006/main">
              <a:ext uri="{FF2B5EF4-FFF2-40B4-BE49-F238E27FC236}">
                <a16:creationId xmlns:a16="http://schemas.microsoft.com/office/drawing/2014/main" id="{66E58D45-7CB2-430D-B518-9AE03705A6E8}"/>
              </a:ext>
            </a:extLst>
          </p:cNvPr>
          <p:cNvSpPr>
            <a:spLocks xmlns:a="http://schemas.openxmlformats.org/drawingml/2006/main" noGrp="1"/>
          </p:cNvSpPr>
          <p:nvPr/>
        </p:nvSpPr>
        <p:spPr>
          <a:xfrm xmlns:a="http://schemas.openxmlformats.org/drawingml/2006/main">
            <a:off x="6572250" y="1666875"/>
            <a:ext cx="4857750" cy="1143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000000"/>
                </a:solidFill>
                <a:latin typeface="Helvetica Neue"/>
                <a:ea typeface="Helvetica Neue"/>
                <a:cs typeface="Helvetica Neue"/>
              </a:defRPr>
            </a:pPr>
            <a:r>
              <a:t>Two signals moved in the direction of greater answer-order sensitivity, while averaged behavior changed only +0.038.</a:t>
            </a:r>
          </a:p>
        </p:txBody>
      </p:sp>
      <p:sp>
        <p:nvSpPr>
          <p:cNvPr id="5" name="">
            <a:extLst xmlns:a="http://schemas.openxmlformats.org/drawingml/2006/main">
              <a:ext uri="{FF2B5EF4-FFF2-40B4-BE49-F238E27FC236}">
                <a16:creationId xmlns:a16="http://schemas.microsoft.com/office/drawing/2014/main" id="{913FA835-E9A7-4B98-B566-50609E40C781}"/>
              </a:ext>
            </a:extLst>
          </p:cNvPr>
          <p:cNvSpPr>
            <a:spLocks xmlns:a="http://schemas.openxmlformats.org/drawingml/2006/main" noGrp="1"/>
          </p:cNvSpPr>
          <p:nvPr/>
        </p:nvSpPr>
        <p:spPr>
          <a:xfrm xmlns:a="http://schemas.openxmlformats.org/drawingml/2006/main">
            <a:off x="6667500" y="3476625"/>
            <a:ext cx="2000250" cy="762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a:solidFill>
                  <a:srgbClr val="3D8DFF"/>
                </a:solidFill>
                <a:latin typeface="Helvetica Neue"/>
                <a:ea typeface="Helvetica Neue"/>
                <a:cs typeface="Helvetica Neue"/>
              </a:defRPr>
            </a:pPr>
            <a:r>
              <a:t>−0.146</a:t>
            </a:r>
          </a:p>
        </p:txBody>
      </p:sp>
      <p:sp>
        <p:nvSpPr>
          <p:cNvPr id="6" name="">
            <a:extLst xmlns:a="http://schemas.openxmlformats.org/drawingml/2006/main">
              <a:ext uri="{FF2B5EF4-FFF2-40B4-BE49-F238E27FC236}">
                <a16:creationId xmlns:a16="http://schemas.microsoft.com/office/drawing/2014/main" id="{2AB4108C-ED1B-45DC-8A6C-E89A40F3070B}"/>
              </a:ext>
            </a:extLst>
          </p:cNvPr>
          <p:cNvSpPr>
            <a:spLocks xmlns:a="http://schemas.openxmlformats.org/drawingml/2006/main" noGrp="1"/>
          </p:cNvSpPr>
          <p:nvPr/>
        </p:nvSpPr>
        <p:spPr>
          <a:xfrm xmlns:a="http://schemas.openxmlformats.org/drawingml/2006/main">
            <a:off x="6667500" y="4333875"/>
            <a:ext cx="2190750" cy="781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C6370"/>
                </a:solidFill>
                <a:latin typeface="Helvetica Neue"/>
                <a:ea typeface="Helvetica Neue"/>
                <a:cs typeface="Helvetica Neue"/>
              </a:defRPr>
            </a:pPr>
            <a:r>
              <a:t>0.302 → 0.156
permutation consistency</a:t>
            </a:r>
          </a:p>
        </p:txBody>
      </p:sp>
      <p:sp>
        <p:nvSpPr>
          <p:cNvPr id="7" name="">
            <a:extLst xmlns:a="http://schemas.openxmlformats.org/drawingml/2006/main">
              <a:ext uri="{FF2B5EF4-FFF2-40B4-BE49-F238E27FC236}">
                <a16:creationId xmlns:a16="http://schemas.microsoft.com/office/drawing/2014/main" id="{ED1A094C-C530-4A59-8EA9-1D76C7DAC35A}"/>
              </a:ext>
            </a:extLst>
          </p:cNvPr>
          <p:cNvSpPr>
            <a:spLocks xmlns:a="http://schemas.openxmlformats.org/drawingml/2006/main" noGrp="1"/>
          </p:cNvSpPr>
          <p:nvPr/>
        </p:nvSpPr>
        <p:spPr>
          <a:xfrm xmlns:a="http://schemas.openxmlformats.org/drawingml/2006/main">
            <a:off x="9334500" y="3476625"/>
            <a:ext cx="2000250" cy="762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a:solidFill>
                  <a:srgbClr val="3D8DFF"/>
                </a:solidFill>
                <a:latin typeface="Helvetica Neue"/>
                <a:ea typeface="Helvetica Neue"/>
                <a:cs typeface="Helvetica Neue"/>
              </a:defRPr>
            </a:pPr>
            <a:r>
              <a:t>+0.188</a:t>
            </a:r>
          </a:p>
        </p:txBody>
      </p:sp>
      <p:sp>
        <p:nvSpPr>
          <p:cNvPr id="8" name="">
            <a:extLst xmlns:a="http://schemas.openxmlformats.org/drawingml/2006/main">
              <a:ext uri="{FF2B5EF4-FFF2-40B4-BE49-F238E27FC236}">
                <a16:creationId xmlns:a16="http://schemas.microsoft.com/office/drawing/2014/main" id="{DABBB118-D6B8-4B3B-95B6-4D4AAC72B5C2}"/>
              </a:ext>
            </a:extLst>
          </p:cNvPr>
          <p:cNvSpPr>
            <a:spLocks xmlns:a="http://schemas.openxmlformats.org/drawingml/2006/main" noGrp="1"/>
          </p:cNvSpPr>
          <p:nvPr/>
        </p:nvSpPr>
        <p:spPr>
          <a:xfrm xmlns:a="http://schemas.openxmlformats.org/drawingml/2006/main">
            <a:off x="9334500" y="4333875"/>
            <a:ext cx="2000250" cy="781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5C6370"/>
                </a:solidFill>
                <a:latin typeface="Helvetica Neue"/>
                <a:ea typeface="Helvetica Neue"/>
                <a:cs typeface="Helvetica Neue"/>
              </a:defRPr>
            </a:pPr>
            <a:r>
              <a:t>0.823 → 1.010
answer-order range</a:t>
            </a:r>
          </a:p>
        </p:txBody>
      </p:sp>
      <p:sp>
        <p:nvSpPr>
          <p:cNvPr id="9" name="">
            <a:extLst xmlns:a="http://schemas.openxmlformats.org/drawingml/2006/main">
              <a:ext uri="{FF2B5EF4-FFF2-40B4-BE49-F238E27FC236}">
                <a16:creationId xmlns:a16="http://schemas.microsoft.com/office/drawing/2014/main" id="{5FE70698-E53E-4781-8133-3F2487BD4BE3}"/>
              </a:ext>
            </a:extLst>
          </p:cNvPr>
          <p:cNvSpPr>
            <a:spLocks xmlns:a="http://schemas.openxmlformats.org/drawingml/2006/main" noGrp="1"/>
          </p:cNvSpPr>
          <p:nvPr/>
        </p:nvSpPr>
        <p:spPr>
          <a:xfrm xmlns:a="http://schemas.openxmlformats.org/drawingml/2006/main">
            <a:off x="6572250" y="5429250"/>
            <a:ext cx="4857750" cy="571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000000"/>
                </a:solidFill>
                <a:latin typeface="Helvetica Neue"/>
                <a:ea typeface="Helvetica Neue"/>
                <a:cs typeface="Helvetica Neue"/>
              </a:defRPr>
            </a:pPr>
            <a:r>
              <a:t>Dense follow-up localized the clearest transition to steps 2,080 → 2,120.</a:t>
            </a:r>
          </a:p>
        </p:txBody>
      </p:sp>
      <p:graphicFrame>
        <p:nvGraphicFramePr>
          <p:cNvPr id="20" name="Chart"/>
          <p:cNvGraphicFramePr/>
          <p:nvPr/>
        </p:nvGraphicFramePr>
        <p:xfrm>
          <a:off xmlns:a="http://schemas.openxmlformats.org/drawingml/2006/main" x="552450" y="1524000"/>
          <a:ext xmlns:a="http://schemas.openxmlformats.org/drawingml/2006/main" cx="5429250" cy="4429125"/>
        </p:xfrm>
        <a:graphic xmlns:a="http://schemas.openxmlformats.org/drawingml/2006/main">
          <a:graphicData uri="http://schemas.openxmlformats.org/drawingml/2006/chart">
            <c:chart xmlns:r="http://schemas.openxmlformats.org/officeDocument/2006/relationships" xmlns:c="http://schemas.openxmlformats.org/drawingml/2006/chart" r:id="R44a84a4c4f4f4a0f"/>
          </a:graphicData>
        </a:graphic>
      </p:graphicFrame>
    </p:spTree>
    <p:extLst>
      <p:ext uri="{BB962C8B-B14F-4D97-AF65-F5344CB8AC3E}">
        <p14:creationId xmlns:p14="http://schemas.microsoft.com/office/powerpoint/2010/main" val="140272872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94E302BD-8845-46A5-A9BF-319F9E352F06}"/>
              </a:ext>
            </a:extLst>
          </p:cNvPr>
          <p:cNvSpPr>
            <a:spLocks xmlns:a="http://schemas.openxmlformats.org/drawingml/2006/main" noGrp="1"/>
          </p:cNvSpPr>
          <p:nvPr/>
        </p:nvSpPr>
        <p:spPr>
          <a:xfrm xmlns:a="http://schemas.openxmlformats.org/drawingml/2006/main">
            <a:off x="400050" y="323850"/>
            <a:ext cx="11391900" cy="876300"/>
          </a:xfrm>
          <a:prstGeom xmlns:a="http://schemas.openxmlformats.org/drawingml/2006/main" prst="rect">
            <a:avLst/>
          </a:prstGeom>
        </p:spPr>
        <p:txBody>
          <a:bodyPr xmlns:a="http://schemas.openxmlformats.org/drawingml/2006/main" wrap="square" lIns="0" tIns="0" rIns="0" bIns="0" anchor="t">
            <a:normAutofit fontScale="95833"/>
          </a:bodyPr>
          <a:lstStyle xmlns:a="http://schemas.openxmlformats.org/drawingml/2006/main"/>
          <a:p xmlns:a="http://schemas.openxmlformats.org/drawingml/2006/main">
            <a:pPr algn="l">
              <a:defRPr sz="3000" b="0">
                <a:solidFill>
                  <a:srgbClr val="000000"/>
                </a:solidFill>
                <a:latin typeface="Helvetica Neue"/>
                <a:ea typeface="Helvetica Neue"/>
                <a:cs typeface="Helvetica Neue"/>
              </a:defRPr>
            </a:pPr>
            <a:r>
              <a:t>Capability improved; the open-ended safety check remained uncertain</a:t>
            </a:r>
          </a:p>
        </p:txBody>
      </p:sp>
      <p:sp>
        <p:nvSpPr>
          <p:cNvPr id="2" name="page-number">
            <a:extLst xmlns:a="http://schemas.openxmlformats.org/drawingml/2006/main">
              <a:ext uri="{FF2B5EF4-FFF2-40B4-BE49-F238E27FC236}">
                <a16:creationId xmlns:a16="http://schemas.microsoft.com/office/drawing/2014/main" id="{B0D41DDC-D8CA-4830-9765-A0C6FB18C9DB}"/>
              </a:ext>
            </a:extLst>
          </p:cNvPr>
          <p:cNvSpPr>
            <a:spLocks xmlns:a="http://schemas.openxmlformats.org/drawingml/2006/main" noGrp="1"/>
          </p:cNvSpPr>
          <p:nvPr/>
        </p:nvSpPr>
        <p:spPr>
          <a:xfrm xmlns:a="http://schemas.openxmlformats.org/drawingml/2006/main">
            <a:off x="11277600" y="6286500"/>
            <a:ext cx="5143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0">
                <a:solidFill>
                  <a:srgbClr val="5C6370"/>
                </a:solidFill>
                <a:latin typeface="Helvetica Neue"/>
                <a:ea typeface="Helvetica Neue"/>
                <a:cs typeface="Helvetica Neue"/>
              </a:defRPr>
            </a:pPr>
            <a:r>
              <a:t>10</a:t>
            </a:r>
          </a:p>
        </p:txBody>
      </p:sp>
      <p:sp>
        <p:nvSpPr>
          <p:cNvPr id="3" name="source-note">
            <a:extLst xmlns:a="http://schemas.openxmlformats.org/drawingml/2006/main">
              <a:ext uri="{FF2B5EF4-FFF2-40B4-BE49-F238E27FC236}">
                <a16:creationId xmlns:a16="http://schemas.microsoft.com/office/drawing/2014/main" id="{FE8B36C0-D33D-4D66-9B72-F0A5C599FD5C}"/>
              </a:ext>
            </a:extLst>
          </p:cNvPr>
          <p:cNvSpPr>
            <a:spLocks xmlns:a="http://schemas.openxmlformats.org/drawingml/2006/main" noGrp="1"/>
          </p:cNvSpPr>
          <p:nvPr/>
        </p:nvSpPr>
        <p:spPr>
          <a:xfrm xmlns:a="http://schemas.openxmlformats.org/drawingml/2006/main">
            <a:off x="400050" y="6334125"/>
            <a:ext cx="1009650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C6370"/>
                </a:solidFill>
                <a:latin typeface="Helvetica Neue"/>
                <a:ea typeface="Helvetica Neue"/>
                <a:cs typeface="Helvetica Neue"/>
              </a:defRPr>
            </a:pPr>
            <a:r>
              <a:t>Source: reports/tulu_cross_format_v1.md</a:t>
            </a:r>
          </a:p>
        </p:txBody>
      </p:sp>
      <p:sp>
        <p:nvSpPr>
          <p:cNvPr id="4" name="">
            <a:extLst xmlns:a="http://schemas.openxmlformats.org/drawingml/2006/main">
              <a:ext uri="{FF2B5EF4-FFF2-40B4-BE49-F238E27FC236}">
                <a16:creationId xmlns:a16="http://schemas.microsoft.com/office/drawing/2014/main" id="{8CDCF0DC-4908-4A27-A8B3-7DA3E591C12B}"/>
              </a:ext>
            </a:extLst>
          </p:cNvPr>
          <p:cNvSpPr>
            <a:spLocks xmlns:a="http://schemas.openxmlformats.org/drawingml/2006/main" noGrp="1"/>
          </p:cNvSpPr>
          <p:nvPr/>
        </p:nvSpPr>
        <p:spPr>
          <a:xfrm xmlns:a="http://schemas.openxmlformats.org/drawingml/2006/main">
            <a:off x="400050" y="1238250"/>
            <a:ext cx="11391900" cy="90487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a:solidFill>
                  <a:srgbClr val="5C6370"/>
                </a:solidFill>
                <a:latin typeface="Helvetica Neue"/>
                <a:ea typeface="Helvetica Neue"/>
                <a:cs typeface="Helvetica Neue"/>
              </a:defRPr>
            </a:pPr>
            <a:r>
              <a:t>The extra panels answered two rival explanations: did training do anything, and did the safety signal survive without answer choices?</a:t>
            </a:r>
          </a:p>
        </p:txBody>
      </p:sp>
      <p:sp>
        <p:nvSpPr>
          <p:cNvPr id="5" name="">
            <a:extLst xmlns:a="http://schemas.openxmlformats.org/drawingml/2006/main">
              <a:ext uri="{FF2B5EF4-FFF2-40B4-BE49-F238E27FC236}">
                <a16:creationId xmlns:a16="http://schemas.microsoft.com/office/drawing/2014/main" id="{0D0B2491-ED95-4F42-A4E6-3AC8EE6BF43F}"/>
              </a:ext>
            </a:extLst>
          </p:cNvPr>
          <p:cNvSpPr>
            <a:spLocks xmlns:a="http://schemas.openxmlformats.org/drawingml/2006/main" noGrp="1"/>
          </p:cNvSpPr>
          <p:nvPr/>
        </p:nvSpPr>
        <p:spPr>
          <a:xfrm xmlns:a="http://schemas.openxmlformats.org/drawingml/2006/main">
            <a:off x="400050" y="2762250"/>
            <a:ext cx="3562350" cy="2857500"/>
          </a:xfrm>
          <a:prstGeom xmlns:a="http://schemas.openxmlformats.org/drawingml/2006/main" prst="roundRect">
            <a:avLst>
              <a:gd name="adj" fmla="val 2667"/>
            </a:avLst>
          </a:prstGeom>
          <a:solidFill xmlns:a="http://schemas.openxmlformats.org/drawingml/2006/main">
            <a:srgbClr val="E9F6FC"/>
          </a:solidFill>
          <a:ln xmlns:a="http://schemas.openxmlformats.org/drawingml/2006/main" w="0">
            <a:solidFill>
              <a:srgbClr val="E9F6FC"/>
            </a:solidFill>
            <a:prstDash val="solid"/>
          </a:ln>
        </p:spPr>
      </p:sp>
      <p:sp>
        <p:nvSpPr>
          <p:cNvPr id="6" name="">
            <a:extLst xmlns:a="http://schemas.openxmlformats.org/drawingml/2006/main">
              <a:ext uri="{FF2B5EF4-FFF2-40B4-BE49-F238E27FC236}">
                <a16:creationId xmlns:a16="http://schemas.microsoft.com/office/drawing/2014/main" id="{C46C4846-A824-410A-86EA-814A12CB31CA}"/>
              </a:ext>
            </a:extLst>
          </p:cNvPr>
          <p:cNvSpPr>
            <a:spLocks xmlns:a="http://schemas.openxmlformats.org/drawingml/2006/main" noGrp="1"/>
          </p:cNvSpPr>
          <p:nvPr/>
        </p:nvSpPr>
        <p:spPr>
          <a:xfrm xmlns:a="http://schemas.openxmlformats.org/drawingml/2006/main">
            <a:off x="4314825" y="2762250"/>
            <a:ext cx="3562350" cy="2857500"/>
          </a:xfrm>
          <a:prstGeom xmlns:a="http://schemas.openxmlformats.org/drawingml/2006/main" prst="roundRect">
            <a:avLst>
              <a:gd name="adj" fmla="val 2667"/>
            </a:avLst>
          </a:prstGeom>
          <a:solidFill xmlns:a="http://schemas.openxmlformats.org/drawingml/2006/main">
            <a:srgbClr val="F2F2F2"/>
          </a:solidFill>
          <a:ln xmlns:a="http://schemas.openxmlformats.org/drawingml/2006/main" w="0">
            <a:solidFill>
              <a:srgbClr val="F2F2F2"/>
            </a:solidFill>
            <a:prstDash val="solid"/>
          </a:ln>
        </p:spPr>
      </p:sp>
      <p:sp>
        <p:nvSpPr>
          <p:cNvPr id="7" name="">
            <a:extLst xmlns:a="http://schemas.openxmlformats.org/drawingml/2006/main">
              <a:ext uri="{FF2B5EF4-FFF2-40B4-BE49-F238E27FC236}">
                <a16:creationId xmlns:a16="http://schemas.microsoft.com/office/drawing/2014/main" id="{95433BF2-1FA4-4927-94EC-1345EB15DBB6}"/>
              </a:ext>
            </a:extLst>
          </p:cNvPr>
          <p:cNvSpPr>
            <a:spLocks xmlns:a="http://schemas.openxmlformats.org/drawingml/2006/main" noGrp="1"/>
          </p:cNvSpPr>
          <p:nvPr/>
        </p:nvSpPr>
        <p:spPr>
          <a:xfrm xmlns:a="http://schemas.openxmlformats.org/drawingml/2006/main">
            <a:off x="8229600" y="2762250"/>
            <a:ext cx="3562350" cy="2857500"/>
          </a:xfrm>
          <a:prstGeom xmlns:a="http://schemas.openxmlformats.org/drawingml/2006/main" prst="roundRect">
            <a:avLst>
              <a:gd name="adj" fmla="val 2667"/>
            </a:avLst>
          </a:prstGeom>
          <a:solidFill xmlns:a="http://schemas.openxmlformats.org/drawingml/2006/main">
            <a:srgbClr val="F2F2F2"/>
          </a:solidFill>
          <a:ln xmlns:a="http://schemas.openxmlformats.org/drawingml/2006/main" w="0">
            <a:solidFill>
              <a:srgbClr val="F2F2F2"/>
            </a:solidFill>
            <a:prstDash val="solid"/>
          </a:ln>
        </p:spPr>
      </p:sp>
      <p:sp>
        <p:nvSpPr>
          <p:cNvPr id="8" name="">
            <a:extLst xmlns:a="http://schemas.openxmlformats.org/drawingml/2006/main">
              <a:ext uri="{FF2B5EF4-FFF2-40B4-BE49-F238E27FC236}">
                <a16:creationId xmlns:a16="http://schemas.microsoft.com/office/drawing/2014/main" id="{E89F5E98-339C-4BD9-A376-66195785CD08}"/>
              </a:ext>
            </a:extLst>
          </p:cNvPr>
          <p:cNvSpPr>
            <a:spLocks xmlns:a="http://schemas.openxmlformats.org/drawingml/2006/main" noGrp="1"/>
          </p:cNvSpPr>
          <p:nvPr/>
        </p:nvSpPr>
        <p:spPr>
          <a:xfrm xmlns:a="http://schemas.openxmlformats.org/drawingml/2006/main">
            <a:off x="704850" y="3143250"/>
            <a:ext cx="2952750" cy="762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925" b="1">
                <a:solidFill>
                  <a:srgbClr val="3D8DFF"/>
                </a:solidFill>
                <a:latin typeface="Helvetica Neue"/>
                <a:ea typeface="Helvetica Neue"/>
                <a:cs typeface="Helvetica Neue"/>
              </a:defRPr>
            </a:pPr>
            <a:r>
              <a:t>11/30 → 19/30</a:t>
            </a:r>
          </a:p>
        </p:txBody>
      </p:sp>
      <p:sp>
        <p:nvSpPr>
          <p:cNvPr id="9" name="">
            <a:extLst xmlns:a="http://schemas.openxmlformats.org/drawingml/2006/main">
              <a:ext uri="{FF2B5EF4-FFF2-40B4-BE49-F238E27FC236}">
                <a16:creationId xmlns:a16="http://schemas.microsoft.com/office/drawing/2014/main" id="{2E920480-A440-4AE5-B9F4-D1B039AC3712}"/>
              </a:ext>
            </a:extLst>
          </p:cNvPr>
          <p:cNvSpPr>
            <a:spLocks xmlns:a="http://schemas.openxmlformats.org/drawingml/2006/main" noGrp="1"/>
          </p:cNvSpPr>
          <p:nvPr/>
        </p:nvSpPr>
        <p:spPr>
          <a:xfrm xmlns:a="http://schemas.openxmlformats.org/drawingml/2006/main">
            <a:off x="704850" y="4286250"/>
            <a:ext cx="2857500" cy="80962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t>Capability exact-match
from baseline to step 2,440</a:t>
            </a:r>
          </a:p>
        </p:txBody>
      </p:sp>
      <p:sp>
        <p:nvSpPr>
          <p:cNvPr id="10" name="">
            <a:extLst xmlns:a="http://schemas.openxmlformats.org/drawingml/2006/main">
              <a:ext uri="{FF2B5EF4-FFF2-40B4-BE49-F238E27FC236}">
                <a16:creationId xmlns:a16="http://schemas.microsoft.com/office/drawing/2014/main" id="{8C4459C1-D823-48BA-83A9-32CD99E85468}"/>
              </a:ext>
            </a:extLst>
          </p:cNvPr>
          <p:cNvSpPr>
            <a:spLocks xmlns:a="http://schemas.openxmlformats.org/drawingml/2006/main" noGrp="1"/>
          </p:cNvSpPr>
          <p:nvPr/>
        </p:nvSpPr>
        <p:spPr>
          <a:xfrm xmlns:a="http://schemas.openxmlformats.org/drawingml/2006/main">
            <a:off x="4619625" y="3143250"/>
            <a:ext cx="2952750" cy="762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000000"/>
                </a:solidFill>
                <a:latin typeface="Helvetica Neue"/>
                <a:ea typeface="Helvetica Neue"/>
                <a:cs typeface="Helvetica Neue"/>
              </a:defRPr>
            </a:pPr>
            <a:r>
              <a:t>+0.167</a:t>
            </a:r>
          </a:p>
        </p:txBody>
      </p:sp>
      <p:sp>
        <p:nvSpPr>
          <p:cNvPr id="11" name="">
            <a:extLst xmlns:a="http://schemas.openxmlformats.org/drawingml/2006/main">
              <a:ext uri="{FF2B5EF4-FFF2-40B4-BE49-F238E27FC236}">
                <a16:creationId xmlns:a16="http://schemas.microsoft.com/office/drawing/2014/main" id="{521C4C3A-A548-4DDD-A29E-EFBB6C1EC74F}"/>
              </a:ext>
            </a:extLst>
          </p:cNvPr>
          <p:cNvSpPr>
            <a:spLocks xmlns:a="http://schemas.openxmlformats.org/drawingml/2006/main" noGrp="1"/>
          </p:cNvSpPr>
          <p:nvPr/>
        </p:nvSpPr>
        <p:spPr>
          <a:xfrm xmlns:a="http://schemas.openxmlformats.org/drawingml/2006/main">
            <a:off x="4619625" y="4286250"/>
            <a:ext cx="2857500" cy="90487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000000"/>
                </a:solidFill>
                <a:latin typeface="Helvetica Neue"/>
                <a:ea typeface="Helvetica Neue"/>
                <a:cs typeface="Helvetica Neue"/>
              </a:defRPr>
            </a:pPr>
            <a:r>
              <a:t>Open-ended safety change at step 1,920
Interval: −0.167 to +0.500</a:t>
            </a:r>
          </a:p>
        </p:txBody>
      </p:sp>
      <p:sp>
        <p:nvSpPr>
          <p:cNvPr id="12" name="">
            <a:extLst xmlns:a="http://schemas.openxmlformats.org/drawingml/2006/main">
              <a:ext uri="{FF2B5EF4-FFF2-40B4-BE49-F238E27FC236}">
                <a16:creationId xmlns:a16="http://schemas.microsoft.com/office/drawing/2014/main" id="{F1206862-E40B-4324-A9F8-6B9215CC8F0B}"/>
              </a:ext>
            </a:extLst>
          </p:cNvPr>
          <p:cNvSpPr>
            <a:spLocks xmlns:a="http://schemas.openxmlformats.org/drawingml/2006/main" noGrp="1"/>
          </p:cNvSpPr>
          <p:nvPr/>
        </p:nvSpPr>
        <p:spPr>
          <a:xfrm xmlns:a="http://schemas.openxmlformats.org/drawingml/2006/main">
            <a:off x="8534400" y="3143250"/>
            <a:ext cx="2952750" cy="762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000000"/>
                </a:solidFill>
                <a:latin typeface="Helvetica Neue"/>
                <a:ea typeface="Helvetica Neue"/>
                <a:cs typeface="Helvetica Neue"/>
              </a:defRPr>
            </a:pPr>
            <a:r>
              <a:t>88.9%</a:t>
            </a:r>
          </a:p>
        </p:txBody>
      </p:sp>
      <p:sp>
        <p:nvSpPr>
          <p:cNvPr id="13" name="">
            <a:extLst xmlns:a="http://schemas.openxmlformats.org/drawingml/2006/main">
              <a:ext uri="{FF2B5EF4-FFF2-40B4-BE49-F238E27FC236}">
                <a16:creationId xmlns:a16="http://schemas.microsoft.com/office/drawing/2014/main" id="{AD5E3588-0628-4954-9727-E15821BD7205}"/>
              </a:ext>
            </a:extLst>
          </p:cNvPr>
          <p:cNvSpPr>
            <a:spLocks xmlns:a="http://schemas.openxmlformats.org/drawingml/2006/main" noGrp="1"/>
          </p:cNvSpPr>
          <p:nvPr/>
        </p:nvSpPr>
        <p:spPr>
          <a:xfrm xmlns:a="http://schemas.openxmlformats.org/drawingml/2006/main">
            <a:off x="8534400" y="4286250"/>
            <a:ext cx="2857500" cy="90487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000000"/>
                </a:solidFill>
                <a:latin typeface="Helvetica Neue"/>
                <a:ea typeface="Helvetica Neue"/>
                <a:cs typeface="Helvetica Neue"/>
              </a:defRPr>
            </a:pPr>
            <a:r>
              <a:t>Exact agreement between two blinded Artificial Intelligence (AI) reviewers</a:t>
            </a:r>
          </a:p>
        </p:txBody>
      </p:sp>
    </p:spTree>
    <p:extLst>
      <p:ext uri="{BB962C8B-B14F-4D97-AF65-F5344CB8AC3E}">
        <p14:creationId xmlns:p14="http://schemas.microsoft.com/office/powerpoint/2010/main" val="117540542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B37CCAC7-C5C5-445E-8093-5C2C196FA612}"/>
              </a:ext>
            </a:extLst>
          </p:cNvPr>
          <p:cNvSpPr>
            <a:spLocks xmlns:a="http://schemas.openxmlformats.org/drawingml/2006/main" noGrp="1"/>
          </p:cNvSpPr>
          <p:nvPr/>
        </p:nvSpPr>
        <p:spPr>
          <a:xfrm xmlns:a="http://schemas.openxmlformats.org/drawingml/2006/main">
            <a:off x="400050" y="323850"/>
            <a:ext cx="11391900" cy="8763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0">
                <a:solidFill>
                  <a:srgbClr val="000000"/>
                </a:solidFill>
                <a:latin typeface="Helvetica Neue"/>
                <a:ea typeface="Helvetica Neue"/>
                <a:cs typeface="Helvetica Neue"/>
              </a:defRPr>
            </a:pPr>
            <a:r>
              <a:t>The defensible conclusion is measurement drift—not safety drift</a:t>
            </a:r>
          </a:p>
        </p:txBody>
      </p:sp>
      <p:sp>
        <p:nvSpPr>
          <p:cNvPr id="2" name="page-number">
            <a:extLst xmlns:a="http://schemas.openxmlformats.org/drawingml/2006/main">
              <a:ext uri="{FF2B5EF4-FFF2-40B4-BE49-F238E27FC236}">
                <a16:creationId xmlns:a16="http://schemas.microsoft.com/office/drawing/2014/main" id="{66828FAF-B96B-48B4-B829-883E3E418906}"/>
              </a:ext>
            </a:extLst>
          </p:cNvPr>
          <p:cNvSpPr>
            <a:spLocks xmlns:a="http://schemas.openxmlformats.org/drawingml/2006/main" noGrp="1"/>
          </p:cNvSpPr>
          <p:nvPr/>
        </p:nvSpPr>
        <p:spPr>
          <a:xfrm xmlns:a="http://schemas.openxmlformats.org/drawingml/2006/main">
            <a:off x="11277600" y="6286500"/>
            <a:ext cx="5143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0">
                <a:solidFill>
                  <a:srgbClr val="5C6370"/>
                </a:solidFill>
                <a:latin typeface="Helvetica Neue"/>
                <a:ea typeface="Helvetica Neue"/>
                <a:cs typeface="Helvetica Neue"/>
              </a:defRPr>
            </a:pPr>
            <a:r>
              <a:t>11</a:t>
            </a:r>
          </a:p>
        </p:txBody>
      </p:sp>
      <p:sp>
        <p:nvSpPr>
          <p:cNvPr id="3" name="source-note">
            <a:extLst xmlns:a="http://schemas.openxmlformats.org/drawingml/2006/main">
              <a:ext uri="{FF2B5EF4-FFF2-40B4-BE49-F238E27FC236}">
                <a16:creationId xmlns:a16="http://schemas.microsoft.com/office/drawing/2014/main" id="{03317A56-1BD7-4396-BC5C-9F92FE371391}"/>
              </a:ext>
            </a:extLst>
          </p:cNvPr>
          <p:cNvSpPr>
            <a:spLocks xmlns:a="http://schemas.openxmlformats.org/drawingml/2006/main" noGrp="1"/>
          </p:cNvSpPr>
          <p:nvPr/>
        </p:nvSpPr>
        <p:spPr>
          <a:xfrm xmlns:a="http://schemas.openxmlformats.org/drawingml/2006/main">
            <a:off x="400050" y="6334125"/>
            <a:ext cx="1009650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5C6370"/>
                </a:solidFill>
                <a:latin typeface="Helvetica Neue"/>
                <a:ea typeface="Helvetica Neue"/>
                <a:cs typeface="Helvetica Neue"/>
              </a:defRPr>
            </a:pPr>
            <a:r>
              <a:t>Source: reports/tulu_cross_format_v1.md</a:t>
            </a:r>
          </a:p>
        </p:txBody>
      </p:sp>
      <p:sp>
        <p:nvSpPr>
          <p:cNvPr id="4" name="">
            <a:extLst xmlns:a="http://schemas.openxmlformats.org/drawingml/2006/main">
              <a:ext uri="{FF2B5EF4-FFF2-40B4-BE49-F238E27FC236}">
                <a16:creationId xmlns:a16="http://schemas.microsoft.com/office/drawing/2014/main" id="{B2E0862D-9C97-4886-BF22-5ADA6218439D}"/>
              </a:ext>
            </a:extLst>
          </p:cNvPr>
          <p:cNvSpPr>
            <a:spLocks xmlns:a="http://schemas.openxmlformats.org/drawingml/2006/main" noGrp="1"/>
          </p:cNvSpPr>
          <p:nvPr/>
        </p:nvSpPr>
        <p:spPr>
          <a:xfrm xmlns:a="http://schemas.openxmlformats.org/drawingml/2006/main">
            <a:off x="400050" y="1666875"/>
            <a:ext cx="5334000" cy="3714750"/>
          </a:xfrm>
          <a:prstGeom xmlns:a="http://schemas.openxmlformats.org/drawingml/2006/main" prst="roundRect">
            <a:avLst>
              <a:gd name="adj" fmla="val 2051"/>
            </a:avLst>
          </a:prstGeom>
          <a:solidFill xmlns:a="http://schemas.openxmlformats.org/drawingml/2006/main">
            <a:srgbClr val="E9F6FC"/>
          </a:solidFill>
          <a:ln xmlns:a="http://schemas.openxmlformats.org/drawingml/2006/main" w="0">
            <a:solidFill>
              <a:srgbClr val="E9F6FC"/>
            </a:solidFill>
            <a:prstDash val="solid"/>
          </a:ln>
        </p:spPr>
      </p:sp>
      <p:sp>
        <p:nvSpPr>
          <p:cNvPr id="5" name="">
            <a:extLst xmlns:a="http://schemas.openxmlformats.org/drawingml/2006/main">
              <a:ext uri="{FF2B5EF4-FFF2-40B4-BE49-F238E27FC236}">
                <a16:creationId xmlns:a16="http://schemas.microsoft.com/office/drawing/2014/main" id="{75A0D36E-6AAE-4CC7-AFB3-55B39A13D752}"/>
              </a:ext>
            </a:extLst>
          </p:cNvPr>
          <p:cNvSpPr>
            <a:spLocks xmlns:a="http://schemas.openxmlformats.org/drawingml/2006/main" noGrp="1"/>
          </p:cNvSpPr>
          <p:nvPr/>
        </p:nvSpPr>
        <p:spPr>
          <a:xfrm xmlns:a="http://schemas.openxmlformats.org/drawingml/2006/main">
            <a:off x="742950" y="2047875"/>
            <a:ext cx="2095500" cy="33337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3D8DFF"/>
                </a:solidFill>
                <a:latin typeface="Helvetica Neue"/>
                <a:ea typeface="Helvetica Neue"/>
                <a:cs typeface="Helvetica Neue"/>
              </a:defRPr>
            </a:pPr>
            <a:r>
              <a:t>FINAL LABEL</a:t>
            </a:r>
          </a:p>
        </p:txBody>
      </p:sp>
      <p:sp>
        <p:nvSpPr>
          <p:cNvPr id="6" name="">
            <a:extLst xmlns:a="http://schemas.openxmlformats.org/drawingml/2006/main">
              <a:ext uri="{FF2B5EF4-FFF2-40B4-BE49-F238E27FC236}">
                <a16:creationId xmlns:a16="http://schemas.microsoft.com/office/drawing/2014/main" id="{3C4FA77B-CCBF-4E96-B8C3-D54C33CCAFAC}"/>
              </a:ext>
            </a:extLst>
          </p:cNvPr>
          <p:cNvSpPr>
            <a:spLocks xmlns:a="http://schemas.openxmlformats.org/drawingml/2006/main" noGrp="1"/>
          </p:cNvSpPr>
          <p:nvPr/>
        </p:nvSpPr>
        <p:spPr>
          <a:xfrm xmlns:a="http://schemas.openxmlformats.org/drawingml/2006/main">
            <a:off x="742950" y="2667000"/>
            <a:ext cx="4286250" cy="1428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3D8DFF"/>
                </a:solidFill>
                <a:latin typeface="Helvetica Neue"/>
                <a:ea typeface="Helvetica Neue"/>
                <a:cs typeface="Helvetica Neue"/>
              </a:defRPr>
            </a:pPr>
            <a:r>
              <a:t>Measurement
drift</a:t>
            </a:r>
          </a:p>
        </p:txBody>
      </p:sp>
      <p:sp>
        <p:nvSpPr>
          <p:cNvPr id="7" name="">
            <a:extLst xmlns:a="http://schemas.openxmlformats.org/drawingml/2006/main">
              <a:ext uri="{FF2B5EF4-FFF2-40B4-BE49-F238E27FC236}">
                <a16:creationId xmlns:a16="http://schemas.microsoft.com/office/drawing/2014/main" id="{8FF4CFCC-ACE3-4106-837A-257705A1B1F0}"/>
              </a:ext>
            </a:extLst>
          </p:cNvPr>
          <p:cNvSpPr>
            <a:spLocks xmlns:a="http://schemas.openxmlformats.org/drawingml/2006/main" noGrp="1"/>
          </p:cNvSpPr>
          <p:nvPr/>
        </p:nvSpPr>
        <p:spPr>
          <a:xfrm xmlns:a="http://schemas.openxmlformats.org/drawingml/2006/main">
            <a:off x="742950" y="4429125"/>
            <a:ext cx="4381500" cy="809625"/>
          </a:xfrm>
          <a:prstGeom xmlns:a="http://schemas.openxmlformats.org/drawingml/2006/main" prst="rect">
            <a:avLst/>
          </a:prstGeom>
        </p:spPr>
        <p:txBody>
          <a:bodyPr xmlns:a="http://schemas.openxmlformats.org/drawingml/2006/main" wrap="square" lIns="0" tIns="0" rIns="0" bIns="0" anchor="t">
            <a:normAutofit fontScale="95743"/>
          </a:bodyPr>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t>The safety test became more sensitive to answer order during training, without the required persistent rise in averaged risky behavior.</a:t>
            </a:r>
          </a:p>
        </p:txBody>
      </p:sp>
      <p:sp>
        <p:nvSpPr>
          <p:cNvPr id="8" name="">
            <a:extLst xmlns:a="http://schemas.openxmlformats.org/drawingml/2006/main">
              <a:ext uri="{FF2B5EF4-FFF2-40B4-BE49-F238E27FC236}">
                <a16:creationId xmlns:a16="http://schemas.microsoft.com/office/drawing/2014/main" id="{BA9EA6D2-EF4E-40DB-AB13-84CC055DFC31}"/>
              </a:ext>
            </a:extLst>
          </p:cNvPr>
          <p:cNvSpPr>
            <a:spLocks xmlns:a="http://schemas.openxmlformats.org/drawingml/2006/main" noGrp="1"/>
          </p:cNvSpPr>
          <p:nvPr/>
        </p:nvSpPr>
        <p:spPr>
          <a:xfrm xmlns:a="http://schemas.openxmlformats.org/drawingml/2006/main">
            <a:off x="6381750" y="1809750"/>
            <a:ext cx="4953000" cy="52387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000000"/>
                </a:solidFill>
                <a:latin typeface="Helvetica Neue"/>
                <a:ea typeface="Helvetica Neue"/>
                <a:cs typeface="Helvetica Neue"/>
              </a:defRPr>
            </a:pPr>
            <a:r>
              <a:t>What this does not prove</a:t>
            </a:r>
          </a:p>
        </p:txBody>
      </p:sp>
      <p:sp>
        <p:nvSpPr>
          <p:cNvPr id="9" name="">
            <a:extLst xmlns:a="http://schemas.openxmlformats.org/drawingml/2006/main">
              <a:ext uri="{FF2B5EF4-FFF2-40B4-BE49-F238E27FC236}">
                <a16:creationId xmlns:a16="http://schemas.microsoft.com/office/drawing/2014/main" id="{80EA64E0-D68A-4C49-B96A-A0453233A9CF}"/>
              </a:ext>
            </a:extLst>
          </p:cNvPr>
          <p:cNvSpPr>
            <a:spLocks xmlns:a="http://schemas.openxmlformats.org/drawingml/2006/main" noGrp="1"/>
          </p:cNvSpPr>
          <p:nvPr/>
        </p:nvSpPr>
        <p:spPr>
          <a:xfrm xmlns:a="http://schemas.openxmlformats.org/drawingml/2006/main">
            <a:off x="6381750" y="2714625"/>
            <a:ext cx="428625"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3D8DFF"/>
                </a:solidFill>
                <a:latin typeface="Helvetica Neue"/>
                <a:ea typeface="Helvetica Neue"/>
                <a:cs typeface="Helvetica Neue"/>
              </a:defRPr>
            </a:pPr>
            <a:r>
              <a:t>01</a:t>
            </a:r>
          </a:p>
        </p:txBody>
      </p:sp>
      <p:sp>
        <p:nvSpPr>
          <p:cNvPr id="10" name="">
            <a:extLst xmlns:a="http://schemas.openxmlformats.org/drawingml/2006/main">
              <a:ext uri="{FF2B5EF4-FFF2-40B4-BE49-F238E27FC236}">
                <a16:creationId xmlns:a16="http://schemas.microsoft.com/office/drawing/2014/main" id="{8140B543-AAE1-4A84-9BA8-310BE2F5298D}"/>
              </a:ext>
            </a:extLst>
          </p:cNvPr>
          <p:cNvSpPr>
            <a:spLocks xmlns:a="http://schemas.openxmlformats.org/drawingml/2006/main" noGrp="1"/>
          </p:cNvSpPr>
          <p:nvPr/>
        </p:nvSpPr>
        <p:spPr>
          <a:xfrm xmlns:a="http://schemas.openxmlformats.org/drawingml/2006/main">
            <a:off x="6953250" y="2667000"/>
            <a:ext cx="4381500" cy="61912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t>It does not show that Reinforcement Learning with Verifiable Rewards is generally safe.</a:t>
            </a:r>
          </a:p>
        </p:txBody>
      </p:sp>
      <p:sp>
        <p:nvSpPr>
          <p:cNvPr id="11" name="">
            <a:extLst xmlns:a="http://schemas.openxmlformats.org/drawingml/2006/main">
              <a:ext uri="{FF2B5EF4-FFF2-40B4-BE49-F238E27FC236}">
                <a16:creationId xmlns:a16="http://schemas.microsoft.com/office/drawing/2014/main" id="{F69436A4-A765-40AA-B372-A194088F5484}"/>
              </a:ext>
            </a:extLst>
          </p:cNvPr>
          <p:cNvSpPr>
            <a:spLocks xmlns:a="http://schemas.openxmlformats.org/drawingml/2006/main" noGrp="1"/>
          </p:cNvSpPr>
          <p:nvPr/>
        </p:nvSpPr>
        <p:spPr>
          <a:xfrm xmlns:a="http://schemas.openxmlformats.org/drawingml/2006/main">
            <a:off x="6381750" y="3667125"/>
            <a:ext cx="428625"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3D8DFF"/>
                </a:solidFill>
                <a:latin typeface="Helvetica Neue"/>
                <a:ea typeface="Helvetica Neue"/>
                <a:cs typeface="Helvetica Neue"/>
              </a:defRPr>
            </a:pPr>
            <a:r>
              <a:t>02</a:t>
            </a:r>
          </a:p>
        </p:txBody>
      </p:sp>
      <p:sp>
        <p:nvSpPr>
          <p:cNvPr id="12" name="">
            <a:extLst xmlns:a="http://schemas.openxmlformats.org/drawingml/2006/main">
              <a:ext uri="{FF2B5EF4-FFF2-40B4-BE49-F238E27FC236}">
                <a16:creationId xmlns:a16="http://schemas.microsoft.com/office/drawing/2014/main" id="{C863C309-2A83-4420-B3EE-A6860141F2ED}"/>
              </a:ext>
            </a:extLst>
          </p:cNvPr>
          <p:cNvSpPr>
            <a:spLocks xmlns:a="http://schemas.openxmlformats.org/drawingml/2006/main" noGrp="1"/>
          </p:cNvSpPr>
          <p:nvPr/>
        </p:nvSpPr>
        <p:spPr>
          <a:xfrm xmlns:a="http://schemas.openxmlformats.org/drawingml/2006/main">
            <a:off x="6953250" y="3619500"/>
            <a:ext cx="4381500" cy="61912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t>It covers one eight-billion-parameter model lineage and 24 authored safety situations.</a:t>
            </a:r>
          </a:p>
        </p:txBody>
      </p:sp>
      <p:sp>
        <p:nvSpPr>
          <p:cNvPr id="13" name="">
            <a:extLst xmlns:a="http://schemas.openxmlformats.org/drawingml/2006/main">
              <a:ext uri="{FF2B5EF4-FFF2-40B4-BE49-F238E27FC236}">
                <a16:creationId xmlns:a16="http://schemas.microsoft.com/office/drawing/2014/main" id="{620B619A-BD58-4363-B215-A2AD3A880F88}"/>
              </a:ext>
            </a:extLst>
          </p:cNvPr>
          <p:cNvSpPr>
            <a:spLocks xmlns:a="http://schemas.openxmlformats.org/drawingml/2006/main" noGrp="1"/>
          </p:cNvSpPr>
          <p:nvPr/>
        </p:nvSpPr>
        <p:spPr>
          <a:xfrm xmlns:a="http://schemas.openxmlformats.org/drawingml/2006/main">
            <a:off x="6381750" y="4619625"/>
            <a:ext cx="428625"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3D8DFF"/>
                </a:solidFill>
                <a:latin typeface="Helvetica Neue"/>
                <a:ea typeface="Helvetica Neue"/>
                <a:cs typeface="Helvetica Neue"/>
              </a:defRPr>
            </a:pPr>
            <a:r>
              <a:t>03</a:t>
            </a:r>
          </a:p>
        </p:txBody>
      </p:sp>
      <p:sp>
        <p:nvSpPr>
          <p:cNvPr id="14" name="">
            <a:extLst xmlns:a="http://schemas.openxmlformats.org/drawingml/2006/main">
              <a:ext uri="{FF2B5EF4-FFF2-40B4-BE49-F238E27FC236}">
                <a16:creationId xmlns:a16="http://schemas.microsoft.com/office/drawing/2014/main" id="{74CE1A96-D551-4D5B-BAE3-53624FCDAA04}"/>
              </a:ext>
            </a:extLst>
          </p:cNvPr>
          <p:cNvSpPr>
            <a:spLocks xmlns:a="http://schemas.openxmlformats.org/drawingml/2006/main" noGrp="1"/>
          </p:cNvSpPr>
          <p:nvPr/>
        </p:nvSpPr>
        <p:spPr>
          <a:xfrm xmlns:a="http://schemas.openxmlformats.org/drawingml/2006/main">
            <a:off x="6953250" y="4572000"/>
            <a:ext cx="4381500" cy="714375"/>
          </a:xfrm>
          <a:prstGeom xmlns:a="http://schemas.openxmlformats.org/drawingml/2006/main" prst="rect">
            <a:avLst/>
          </a:prstGeom>
        </p:spPr>
        <p:txBody>
          <a:bodyPr xmlns:a="http://schemas.openxmlformats.org/drawingml/2006/main" wrap="square" lIns="0" tIns="0" rIns="0" bIns="0" anchor="t">
            <a:normAutofit fontScale="94697"/>
          </a:bodyPr>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t>Its semantic and open-ended reviews were performed by Artificial Intelligence, not independent humans.</a:t>
            </a:r>
          </a:p>
        </p:txBody>
      </p:sp>
    </p:spTree>
    <p:extLst>
      <p:ext uri="{BB962C8B-B14F-4D97-AF65-F5344CB8AC3E}">
        <p14:creationId xmlns:p14="http://schemas.microsoft.com/office/powerpoint/2010/main" val="54133540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66BCEB8-F6AD-469F-8CB2-76AA63D825C2}"/>
              </a:ext>
            </a:extLst>
          </p:cNvPr>
          <p:cNvSpPr>
            <a:spLocks xmlns:a="http://schemas.openxmlformats.org/drawingml/2006/main" noGrp="1"/>
          </p:cNvSpPr>
          <p:nvPr/>
        </p:nvSpPr>
        <p:spPr>
          <a:xfrm xmlns:a="http://schemas.openxmlformats.org/drawingml/2006/main">
            <a:off x="400050" y="400050"/>
            <a:ext cx="476250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5C6370"/>
                </a:solidFill>
                <a:latin typeface="Helvetica Neue"/>
                <a:ea typeface="Helvetica Neue"/>
                <a:cs typeface="Helvetica Neue"/>
              </a:defRPr>
            </a:pPr>
            <a:r>
              <a:t>WHAT SHOULD HAPPEN NEXT</a:t>
            </a:r>
          </a:p>
        </p:txBody>
      </p:sp>
      <p:sp>
        <p:nvSpPr>
          <p:cNvPr id="2" name="">
            <a:extLst xmlns:a="http://schemas.openxmlformats.org/drawingml/2006/main">
              <a:ext uri="{FF2B5EF4-FFF2-40B4-BE49-F238E27FC236}">
                <a16:creationId xmlns:a16="http://schemas.microsoft.com/office/drawing/2014/main" id="{3CB0585C-0BC5-47E1-ADA4-934D1B5EDD64}"/>
              </a:ext>
            </a:extLst>
          </p:cNvPr>
          <p:cNvSpPr>
            <a:spLocks xmlns:a="http://schemas.openxmlformats.org/drawingml/2006/main" noGrp="1"/>
          </p:cNvSpPr>
          <p:nvPr/>
        </p:nvSpPr>
        <p:spPr>
          <a:xfrm xmlns:a="http://schemas.openxmlformats.org/drawingml/2006/main">
            <a:off x="400050" y="1619250"/>
            <a:ext cx="8858250" cy="2000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0">
                <a:solidFill>
                  <a:srgbClr val="000000"/>
                </a:solidFill>
                <a:latin typeface="Helvetica Neue"/>
                <a:ea typeface="Helvetica Neue"/>
                <a:cs typeface="Helvetica Neue"/>
              </a:defRPr>
            </a:pPr>
            <a:r>
              <a:t>Make safety claims
harder to fool.</a:t>
            </a:r>
          </a:p>
        </p:txBody>
      </p:sp>
      <p:cxnSp>
        <p:nvCxnSpPr>
          <p:cNvPr id="11" name=""/>
          <p:cNvCxnSpPr/>
          <p:nvPr/>
        </p:nvCxnSpPr>
        <p:spPr>
          <a:xfrm xmlns:a="http://schemas.openxmlformats.org/drawingml/2006/main">
            <a:off x="400050" y="4000500"/>
            <a:ext cx="11391900" cy="95"/>
          </a:xfrm>
          <a:prstGeom xmlns:a="http://schemas.openxmlformats.org/drawingml/2006/main" prst="straightConnector1">
            <a:avLst/>
          </a:prstGeom>
          <a:ln xmlns:a="http://schemas.openxmlformats.org/drawingml/2006/main" w="38100">
            <a:solidFill>
              <a:srgbClr val="3D8DFF"/>
            </a:solidFill>
            <a:prstDash val="solid"/>
          </a:ln>
        </p:spPr>
      </p:cxnSp>
      <p:sp>
        <p:nvSpPr>
          <p:cNvPr id="4" name="">
            <a:extLst xmlns:a="http://schemas.openxmlformats.org/drawingml/2006/main">
              <a:ext uri="{FF2B5EF4-FFF2-40B4-BE49-F238E27FC236}">
                <a16:creationId xmlns:a16="http://schemas.microsoft.com/office/drawing/2014/main" id="{3F24908D-7456-4F3F-902F-0D47B61A4EF2}"/>
              </a:ext>
            </a:extLst>
          </p:cNvPr>
          <p:cNvSpPr>
            <a:spLocks xmlns:a="http://schemas.openxmlformats.org/drawingml/2006/main" noGrp="1"/>
          </p:cNvSpPr>
          <p:nvPr/>
        </p:nvSpPr>
        <p:spPr>
          <a:xfrm xmlns:a="http://schemas.openxmlformats.org/drawingml/2006/main">
            <a:off x="400050" y="4476750"/>
            <a:ext cx="3429000" cy="42862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000000"/>
                </a:solidFill>
                <a:latin typeface="Helvetica Neue"/>
                <a:ea typeface="Helvetica Neue"/>
                <a:cs typeface="Helvetica Neue"/>
              </a:defRPr>
            </a:pPr>
            <a:r>
              <a:t>1  Independent human review</a:t>
            </a:r>
          </a:p>
        </p:txBody>
      </p:sp>
      <p:sp>
        <p:nvSpPr>
          <p:cNvPr id="5" name="">
            <a:extLst xmlns:a="http://schemas.openxmlformats.org/drawingml/2006/main">
              <a:ext uri="{FF2B5EF4-FFF2-40B4-BE49-F238E27FC236}">
                <a16:creationId xmlns:a16="http://schemas.microsoft.com/office/drawing/2014/main" id="{40750385-8F68-41BC-BCFB-749A367DE7C1}"/>
              </a:ext>
            </a:extLst>
          </p:cNvPr>
          <p:cNvSpPr>
            <a:spLocks xmlns:a="http://schemas.openxmlformats.org/drawingml/2006/main" noGrp="1"/>
          </p:cNvSpPr>
          <p:nvPr/>
        </p:nvSpPr>
        <p:spPr>
          <a:xfrm xmlns:a="http://schemas.openxmlformats.org/drawingml/2006/main">
            <a:off x="4286250" y="4476750"/>
            <a:ext cx="3810000" cy="61912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000000"/>
                </a:solidFill>
                <a:latin typeface="Helvetica Neue"/>
                <a:ea typeface="Helvetica Neue"/>
                <a:cs typeface="Helvetica Neue"/>
              </a:defRPr>
            </a:pPr>
            <a:r>
              <a:t>2  More independently authored situations</a:t>
            </a:r>
          </a:p>
        </p:txBody>
      </p:sp>
      <p:sp>
        <p:nvSpPr>
          <p:cNvPr id="6" name="">
            <a:extLst xmlns:a="http://schemas.openxmlformats.org/drawingml/2006/main">
              <a:ext uri="{FF2B5EF4-FFF2-40B4-BE49-F238E27FC236}">
                <a16:creationId xmlns:a16="http://schemas.microsoft.com/office/drawing/2014/main" id="{AE855BCA-BE2B-4A68-9651-AA165F3EB050}"/>
              </a:ext>
            </a:extLst>
          </p:cNvPr>
          <p:cNvSpPr>
            <a:spLocks xmlns:a="http://schemas.openxmlformats.org/drawingml/2006/main" noGrp="1"/>
          </p:cNvSpPr>
          <p:nvPr/>
        </p:nvSpPr>
        <p:spPr>
          <a:xfrm xmlns:a="http://schemas.openxmlformats.org/drawingml/2006/main">
            <a:off x="8477250" y="4476750"/>
            <a:ext cx="3314700" cy="666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000000"/>
                </a:solidFill>
                <a:latin typeface="Helvetica Neue"/>
                <a:ea typeface="Helvetica Neue"/>
                <a:cs typeface="Helvetica Neue"/>
              </a:defRPr>
            </a:pPr>
            <a:r>
              <a:t>3  Replication on another open training lineage</a:t>
            </a:r>
          </a:p>
        </p:txBody>
      </p:sp>
      <p:sp>
        <p:nvSpPr>
          <p:cNvPr id="7" name="">
            <a:extLst xmlns:a="http://schemas.openxmlformats.org/drawingml/2006/main">
              <a:ext uri="{FF2B5EF4-FFF2-40B4-BE49-F238E27FC236}">
                <a16:creationId xmlns:a16="http://schemas.microsoft.com/office/drawing/2014/main" id="{589AEB4C-5756-4799-88A2-2B2D365B1136}"/>
              </a:ext>
            </a:extLst>
          </p:cNvPr>
          <p:cNvSpPr>
            <a:spLocks xmlns:a="http://schemas.openxmlformats.org/drawingml/2006/main" noGrp="1"/>
          </p:cNvSpPr>
          <p:nvPr/>
        </p:nvSpPr>
        <p:spPr>
          <a:xfrm xmlns:a="http://schemas.openxmlformats.org/drawingml/2006/main">
            <a:off x="400050" y="5953125"/>
            <a:ext cx="6667500" cy="33337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3D8DFF"/>
                </a:solidFill>
                <a:latin typeface="Helvetica Neue"/>
                <a:ea typeface="Helvetica Neue"/>
                <a:cs typeface="Helvetica Neue"/>
              </a:defRPr>
            </a:pPr>
            <a:r>
              <a:t>github.com/aaliyan1230/rlvr-safety-dynamics</a:t>
            </a:r>
          </a:p>
        </p:txBody>
      </p:sp>
      <p:sp>
        <p:nvSpPr>
          <p:cNvPr id="8" name="">
            <a:extLst xmlns:a="http://schemas.openxmlformats.org/drawingml/2006/main">
              <a:ext uri="{FF2B5EF4-FFF2-40B4-BE49-F238E27FC236}">
                <a16:creationId xmlns:a16="http://schemas.microsoft.com/office/drawing/2014/main" id="{BB41F143-F51E-4C5F-8014-25D398331B69}"/>
              </a:ext>
            </a:extLst>
          </p:cNvPr>
          <p:cNvSpPr>
            <a:spLocks xmlns:a="http://schemas.openxmlformats.org/drawingml/2006/main" noGrp="1"/>
          </p:cNvSpPr>
          <p:nvPr/>
        </p:nvSpPr>
        <p:spPr>
          <a:xfrm xmlns:a="http://schemas.openxmlformats.org/drawingml/2006/main">
            <a:off x="8572500" y="5953125"/>
            <a:ext cx="3219450" cy="33337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0">
                <a:solidFill>
                  <a:srgbClr val="5C6370"/>
                </a:solidFill>
                <a:latin typeface="Helvetica Neue"/>
                <a:ea typeface="Helvetica Neue"/>
                <a:cs typeface="Helvetica Neue"/>
              </a:defRPr>
            </a:pPr>
            <a:r>
              <a:t>Aaliyan Shaikh</a:t>
            </a:r>
          </a:p>
        </p:txBody>
      </p:sp>
    </p:spTree>
    <p:extLst>
      <p:ext uri="{BB962C8B-B14F-4D97-AF65-F5344CB8AC3E}">
        <p14:creationId xmlns:p14="http://schemas.microsoft.com/office/powerpoint/2010/main" val="1650746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2026-07-13T13:59:32.8270000Z</dcterms:created>
  <dcterms:modified xsi:type="dcterms:W3CDTF">2026-07-13T13:59:32.8270000Z</dcterms:modified>
</coreProperties>
</file>